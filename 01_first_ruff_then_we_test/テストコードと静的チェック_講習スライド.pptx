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94" r:id="rId45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92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989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手を動かす演習はありません。画面で実物を見せながら進めます。
ゴールは『明日1本書いてみよう』と思ってもらうこと。全部を覚えて帰る必要はありません。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4章が今日の中心です。ここだけ持って帰ってもらえれば成功。
演習はないので、気になったところは遠慮なく途中で止めてください。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ここは共感を取るパート。手を挙げてもらうと場が温まる。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受講者に手を挙げてもらってもいい。『1つでも当てはまる人？』
3つとも『コードの形』の問題に還元できる、という振りをしてから次へ。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ここが今日いちばん伝えたいこと。
『テストを書く気力がない』ではなく『今の形だと物理的に書けない』。だから形を変える話から入る。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『テストを書きましょう』で終わる講習にしないための地図。
2番目の安全網が、0からテストを入れるときの実際のボトルネックを外す。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デモあり。ここで実際にターミナルを叩く。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レビュー時間の話をすると中堅に刺さる。
『レビューで変数名を指摘するのは人間の仕事じゃない』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『また新しいツールを覚えるのか』と身構えられるので、先に「1つに集約される」話をする。
速さの数字は、保存のたびに回せる＝開発の邪魔をしない、という意味づけで話す。
ルール955個は多すぎて怖い、と思われないよう『既定で有効なのはごく一部』と添える。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デモ①: 実際に pip install から ruff check まで打って見せる。
『環境構築が大変そう』という先入観をここで潰す。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0→1の現場だと、ここが一番の離脱ポイント。
『全部直さないと使えない』という思い込みを外す。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pyrefly は深追いすると時間が溶けるので、ここは位置づけの説明にとどめる。</a:t>
            </a:r>
          </a:p>
          <a:p>
            <a:r>
              <a:t>『テストの代わり』ではなく『テストが苦手な領域を埋めるもの』。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ここは説明中心。コードを読む時間を少し取る。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ここは見せ場。『入れれば勝手に教えてくれる』わけではない、という事実。
実際にターミナルで All checks passed! を出して見せる。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新人が『テストが書けない自分はダメだ』と思わないように、ここは丁寧に。
コードの形の問題として扱う。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デモ②: pyproject.toml に追記して、同じコマンドを打ち直す。
複雑度 = 必要なテスト本数、という言い換えが効く。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『何行までならOKですか』という質問が必ず出るので先回りしておく。
数字そのものより、閾値を決めてチームで共有することに意味がある。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今日の山場。私の実体験そのまま。ここだけは削らない。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ここは自分の体験として語る。『他人が書いたコードで、仕様書もなかった』という前提を話す。
正攻法（先にユニットテスト）が使えない状況だった、という説明。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別名: キャラクタリゼーションテスト、承認テスト。
『これはリファクタリング用の一時的な足場』という位置づけを最初に言っておく。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『良いテストケースを考える』のハードルを外すのがこの手法の価値。
新人でもできる、という点を強調。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 itertools.product を知らない人のための1枚。
実際にインタプリタで打って、6件出るところを見せると早い。
『テストケースを考える』作業が、リストを並べる作業に変わる、という橋渡し。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前のページの sizes / colors が、そのまま5本に増えただけ、という説明の仕方をする。
『324ケース考えてください』と言われたら誰もやらないが、リストを5本書くだけならできる。
件数はその場で len() を出して見せると納得感が出る。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skipif がポイント。ファイルがあれば作成側はスキップされ、比較側だけが毎回走る。
初回だけ記録、以降は比較、が自動で切り替わる。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デモ③: 実際に2回走らせて、1回目と2回目で表示が変わることを見せる。
『20分でこの状態が作れる』という体感が大事。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デモ④: その場で sed / エディタで 0.90 を 0.91 にして走らせる。
赤くなる瞬間を見せるのが目的。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ここを話すかどうかで、この講習の信頼度が変わる。
『万能ではない』を自分から言う。実際に私も後から気づいた、という体で話すと生々しい。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デモ⑤: 1行足して再生成 → 同じバグが今度は捕まる。
『網の目を細かくする』という言い方が伝わりやすい。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4番目が大事。『一生このテストを保守するのか』という不安を先に消す。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デモあり。リファクタ後のコードで ruff と pytest を両方走らせる。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『ついでに直す』が一番事故る。ここは強めに言う。
ゴールデンマスターは振る舞いが変わると落ちるので、ついで直しをすると赤くなって混乱する。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デモ⑥: リファクタ後のコードで ruff と pytest を両方走らせる。
『複雑度が消えた』『振る舞いは変わっていない』を同時に見せるのがクライマックス。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3章の『書けない3つの理由』がすべて解消されていることを確認する。
入力2つ、途中結果が見える、他に影響しない。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デモ⑦: 実行して 13 passed を見せる。
パラメータ化を知っているだけで、テストを書く手数がかなり減る。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カバレッジ100%を目指す話は絶対にしない。
『全部書かなくていい』と許可を出すのがこの章の役目。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ここは私の意見として話す。『こう思っています』と主語を自分にする。
5ページ目の結論（テストが書けないコードには理由がある）の、その先の話。
手順を全部見せたうえで、じゃあ何のためにやるのか、を最後に置く。
AIにコードを書かせている人ほど刺さる。エージェントは「動いたかどうか」を自分で判定できないと、
直しては壊しを繰り返す。ruff と pytest は、その判定を機械可読にする道具。
Codex を使っている人には『毎回あなたが目で確かめていませんか?』と振ると早い。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持ち帰りは1つだけに絞る。あれもこれも言うと何も残らない。
※ 相談先として自分の名前・連絡手段をここで明示する。ここが実際の導入率を左右します。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質問が出なければ『今のプロジェクトで一番触りたくないコードはどれですか』と振ると話が始まります。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デモ: pyproject.toml に D と ANN を足し、Args を1つ書き漏らして ruff check を打つ。</a:t>
            </a:r>
          </a:p>
          <a:p>
            <a:r>
              <a:t>『docstring を書け』と人に言う代わりに、書き漏らしを機械に止めてもらう。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" y="2274903"/>
            <a:ext cx="11057839" cy="865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テストコードの作成と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3140476"/>
            <a:ext cx="11057839" cy="865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静的チェックのススメ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4216893"/>
            <a:ext cx="11057839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6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― 長い関数に、どうやって最初の1本を差し込むか ―</a:t>
            </a:r>
            <a:endParaRPr lang="en-US" sz="1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</a:t>
            </a:r>
            <a:endParaRPr lang="en-US" sz="308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498107"/>
            <a:ext cx="36576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5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1498107"/>
            <a:ext cx="804672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2186126"/>
            <a:ext cx="36576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186126"/>
            <a:ext cx="804672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静的チェックを入れてみる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9253728" y="2186126"/>
            <a:ext cx="164592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</a:t>
            </a:r>
            <a:endParaRPr lang="en-US" sz="121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874146"/>
            <a:ext cx="36576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2874146"/>
            <a:ext cx="804672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警告は「テストが書けない形」のサイン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57200" y="3517777"/>
            <a:ext cx="11277295" cy="621437"/>
          </a:xfrm>
          <a:prstGeom prst="roundRect">
            <a:avLst>
              <a:gd name="adj" fmla="val 5886"/>
            </a:avLst>
          </a:prstGeom>
          <a:solidFill>
            <a:srgbClr val="E6F4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612648" y="3562165"/>
            <a:ext cx="36576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562165"/>
            <a:ext cx="804672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安全網を張る ― ゴールデンマスターテスト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9253728" y="3562165"/>
            <a:ext cx="164592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今日の山場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612648" y="4250184"/>
            <a:ext cx="36576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" y="4250184"/>
            <a:ext cx="804672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リファクタリングして、テストを書く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9253728" y="4250184"/>
            <a:ext cx="164592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4938204"/>
            <a:ext cx="36576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069848" y="4938204"/>
            <a:ext cx="804672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何をテストして、何をしないか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612648" y="5626223"/>
            <a:ext cx="36576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069848" y="5626223"/>
            <a:ext cx="8046720" cy="577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明日からの一歩 / Q&amp;A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69225"/>
            <a:ext cx="786384" cy="7863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841248" y="2969225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6466"/>
            <a:ext cx="9686239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3262"/>
            <a:ext cx="9411919" cy="554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この講習が、自分の仕事のどこに効くのかを掴む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心当たり、ありませんか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563"/>
            <a:ext cx="3503066" cy="3329126"/>
          </a:xfrm>
          <a:prstGeom prst="roundRect">
            <a:avLst>
              <a:gd name="adj" fmla="val 1373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04672" y="19960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804672" y="199605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52330"/>
            <a:ext cx="3027578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直したあと、毎回手で動かして確認している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284738"/>
            <a:ext cx="3027578" cy="166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同じ画面を開いて、同じ値を入れて、同じ結果を目で見る。直すたびに、毎回。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4344314" y="1664563"/>
            <a:ext cx="3503066" cy="3329126"/>
          </a:xfrm>
          <a:prstGeom prst="roundRect">
            <a:avLst>
              <a:gd name="adj" fmla="val 1373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82058" y="19960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4582058" y="199605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4582058" y="2552330"/>
            <a:ext cx="3027578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触りたくないコードがある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82058" y="3284738"/>
            <a:ext cx="3027578" cy="166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動いてはいる。でも中を読むと長い。触ると何が壊れるか分からないので、そっとしておく。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121701" y="1664563"/>
            <a:ext cx="3503066" cy="3329126"/>
          </a:xfrm>
          <a:prstGeom prst="roundRect">
            <a:avLst>
              <a:gd name="adj" fmla="val 1373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359445" y="19960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8359445" y="199605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 txBox="1"/>
          <p:nvPr/>
        </p:nvSpPr>
        <p:spPr>
          <a:xfrm>
            <a:off x="8359445" y="2552330"/>
            <a:ext cx="3027578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レビューで細かい指摘が並ぶ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8359445" y="3284738"/>
            <a:ext cx="3027578" cy="166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変数名、未使用のimport、書き方の揺れ。本当に見てほしい設計の話まで、たどり着かない。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493058"/>
            <a:ext cx="11057839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この3つは、別々の問題に見えて、実は同じ1つの原因から来ています。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今日の結論を先に言います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886505"/>
            <a:ext cx="11057839" cy="1664563"/>
          </a:xfrm>
          <a:prstGeom prst="roundRect">
            <a:avLst>
              <a:gd name="adj" fmla="val 3296"/>
            </a:avLst>
          </a:prstGeom>
          <a:solidFill>
            <a:srgbClr val="E6F4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024128" y="2108447"/>
            <a:ext cx="10143439" cy="554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6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テストが書けないコードには、</a:t>
            </a:r>
            <a:endParaRPr lang="en-US" sz="286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718786"/>
            <a:ext cx="10143439" cy="554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6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書けない「理由」がある</a:t>
            </a:r>
            <a:endParaRPr lang="en-US" sz="28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994951"/>
            <a:ext cx="11057839" cy="177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6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そして、その理由は静的チェックが機械的に教えてくれる</a:t>
            </a:r>
            <a:endParaRPr lang="en-US" sz="176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6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だから順番は「テストを書く」より先に「静的チェックを入れる」</a:t>
            </a:r>
            <a:endParaRPr lang="en-US" sz="176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6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テストを書けない自分が悪いのではなく、コードの形の問題として扱える</a:t>
            </a:r>
            <a:endParaRPr lang="en-US" sz="1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今日たどる道のり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なぜ今この話をするのか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845"/>
            <a:ext cx="11057839" cy="466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私が実際にやった順番そのままです。テストから始めていません。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618592" y="2330388"/>
            <a:ext cx="2395728" cy="2330388"/>
          </a:xfrm>
          <a:prstGeom prst="roundRect">
            <a:avLst>
              <a:gd name="adj" fmla="val 1962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783184" y="2496845"/>
            <a:ext cx="36576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783184" y="2907437"/>
            <a:ext cx="2066544" cy="66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を入れる</a:t>
            </a:r>
            <a:endParaRPr lang="en-US" sz="1540" dirty="0"/>
          </a:p>
        </p:txBody>
      </p:sp>
      <p:sp>
        <p:nvSpPr>
          <p:cNvPr id="10" name="Text 8"/>
          <p:cNvSpPr txBox="1"/>
          <p:nvPr/>
        </p:nvSpPr>
        <p:spPr>
          <a:xfrm>
            <a:off x="783184" y="3606553"/>
            <a:ext cx="2066544" cy="887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長い関数が</a:t>
            </a:r>
            <a:endParaRPr lang="en-US" sz="121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機械的に見つかる</a:t>
            </a:r>
            <a:endParaRPr lang="en-US" sz="1210" dirty="0"/>
          </a:p>
        </p:txBody>
      </p:sp>
      <p:sp>
        <p:nvSpPr>
          <p:cNvPr id="11" name="Text 9"/>
          <p:cNvSpPr txBox="1"/>
          <p:nvPr/>
        </p:nvSpPr>
        <p:spPr>
          <a:xfrm>
            <a:off x="3041752" y="3329126"/>
            <a:ext cx="36576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B4C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3471520" y="2330388"/>
            <a:ext cx="2395728" cy="2330388"/>
          </a:xfrm>
          <a:prstGeom prst="roundRect">
            <a:avLst>
              <a:gd name="adj" fmla="val 1962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3636112" y="2496845"/>
            <a:ext cx="36576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A8D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3636112" y="2907437"/>
            <a:ext cx="2066544" cy="66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安全網を張る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3636112" y="3606553"/>
            <a:ext cx="2066544" cy="887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10" dirty="0">
                <a:solidFill>
                  <a:srgbClr val="D6ED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今の動きを</a:t>
            </a:r>
            <a:endParaRPr lang="en-US" sz="121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10" dirty="0">
                <a:solidFill>
                  <a:srgbClr val="D6ED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記録して固定</a:t>
            </a:r>
            <a:endParaRPr lang="en-US" sz="1210" dirty="0"/>
          </a:p>
        </p:txBody>
      </p:sp>
      <p:sp>
        <p:nvSpPr>
          <p:cNvPr id="16" name="Text 14"/>
          <p:cNvSpPr txBox="1"/>
          <p:nvPr/>
        </p:nvSpPr>
        <p:spPr>
          <a:xfrm>
            <a:off x="5894680" y="3329126"/>
            <a:ext cx="36576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B4C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6324448" y="2330388"/>
            <a:ext cx="2395728" cy="2330388"/>
          </a:xfrm>
          <a:prstGeom prst="roundRect">
            <a:avLst>
              <a:gd name="adj" fmla="val 1962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89040" y="2496845"/>
            <a:ext cx="36576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6489040" y="2907437"/>
            <a:ext cx="2066544" cy="66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リファクタリング</a:t>
            </a:r>
            <a:endParaRPr lang="en-US" sz="1540" dirty="0"/>
          </a:p>
        </p:txBody>
      </p:sp>
      <p:sp>
        <p:nvSpPr>
          <p:cNvPr id="20" name="Text 18"/>
          <p:cNvSpPr txBox="1"/>
          <p:nvPr/>
        </p:nvSpPr>
        <p:spPr>
          <a:xfrm>
            <a:off x="6489040" y="3606553"/>
            <a:ext cx="2066544" cy="887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安心して</a:t>
            </a:r>
            <a:endParaRPr lang="en-US" sz="121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分割できる</a:t>
            </a:r>
            <a:endParaRPr lang="en-US" sz="1210" dirty="0"/>
          </a:p>
        </p:txBody>
      </p:sp>
      <p:sp>
        <p:nvSpPr>
          <p:cNvPr id="21" name="Text 19"/>
          <p:cNvSpPr txBox="1"/>
          <p:nvPr/>
        </p:nvSpPr>
        <p:spPr>
          <a:xfrm>
            <a:off x="8747608" y="3329126"/>
            <a:ext cx="36576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B4C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9177376" y="2330388"/>
            <a:ext cx="2395728" cy="2330388"/>
          </a:xfrm>
          <a:prstGeom prst="roundRect">
            <a:avLst>
              <a:gd name="adj" fmla="val 1962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9341968" y="2496845"/>
            <a:ext cx="36576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20" dirty="0"/>
          </a:p>
        </p:txBody>
      </p:sp>
      <p:sp>
        <p:nvSpPr>
          <p:cNvPr id="24" name="Text 22"/>
          <p:cNvSpPr txBox="1"/>
          <p:nvPr/>
        </p:nvSpPr>
        <p:spPr>
          <a:xfrm>
            <a:off x="9341968" y="2907437"/>
            <a:ext cx="2066544" cy="66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テストを書く</a:t>
            </a:r>
            <a:endParaRPr lang="en-US" sz="1540" dirty="0"/>
          </a:p>
        </p:txBody>
      </p:sp>
      <p:sp>
        <p:nvSpPr>
          <p:cNvPr id="25" name="Text 23"/>
          <p:cNvSpPr txBox="1"/>
          <p:nvPr/>
        </p:nvSpPr>
        <p:spPr>
          <a:xfrm>
            <a:off x="9341968" y="3606553"/>
            <a:ext cx="2066544" cy="887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小さい単位なら</a:t>
            </a:r>
            <a:endParaRPr lang="en-US" sz="121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1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書ける</a:t>
            </a:r>
            <a:endParaRPr lang="en-US" sz="121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104660"/>
            <a:ext cx="11057839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2 が今日いちばん伝えたいところ。テストがないコードを、テストなしで安全に直すための手順です。</a:t>
            </a:r>
            <a:endParaRPr lang="en-US" sz="14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69225"/>
            <a:ext cx="786384" cy="7863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841248" y="2969225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6466"/>
            <a:ext cx="9686239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静的チェックを入れてみる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3262"/>
            <a:ext cx="9411919" cy="554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まず入れる。設定は数行、実行は一瞬。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静的チェック = 動かさずに読んで指摘する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静的チェックを入れる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845"/>
            <a:ext cx="11057839" cy="466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テストが「動かして確かめる」のに対して、静的チェックは「読んで確かめる」。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2052961"/>
            <a:ext cx="3503066" cy="3440097"/>
          </a:xfrm>
          <a:prstGeom prst="roundRect">
            <a:avLst>
              <a:gd name="adj" fmla="val 1329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330388"/>
            <a:ext cx="2991002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8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フォーマッタ</a:t>
            </a:r>
            <a:endParaRPr lang="en-US" sz="198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29757"/>
            <a:ext cx="2991002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見た目を揃える</a:t>
            </a:r>
            <a:endParaRPr lang="en-US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06932"/>
            <a:ext cx="2991002" cy="1775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インデント、改行、クォート。</a:t>
            </a:r>
            <a:endParaRPr lang="en-US" sz="132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議論の余地をなくす。</a:t>
            </a:r>
            <a:endParaRPr lang="en-US" sz="132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format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4344314" y="2052961"/>
            <a:ext cx="3503066" cy="3440097"/>
          </a:xfrm>
          <a:prstGeom prst="roundRect">
            <a:avLst>
              <a:gd name="adj" fmla="val 1329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4600346" y="2330388"/>
            <a:ext cx="2991002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8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リンタ</a:t>
            </a:r>
            <a:endParaRPr lang="en-US" sz="1980" dirty="0"/>
          </a:p>
        </p:txBody>
      </p:sp>
      <p:sp>
        <p:nvSpPr>
          <p:cNvPr id="13" name="Text 11"/>
          <p:cNvSpPr txBox="1"/>
          <p:nvPr/>
        </p:nvSpPr>
        <p:spPr>
          <a:xfrm>
            <a:off x="4600346" y="2829757"/>
            <a:ext cx="2991002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怪しい書き方を指摘する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4600346" y="3306932"/>
            <a:ext cx="2991002" cy="1775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未使用の変数、危ない書き方、</a:t>
            </a:r>
            <a:endParaRPr lang="en-US" sz="132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複雑すぎる関数。</a:t>
            </a:r>
            <a:endParaRPr lang="en-US" sz="132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check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8121701" y="2052961"/>
            <a:ext cx="3503066" cy="3440097"/>
          </a:xfrm>
          <a:prstGeom prst="roundRect">
            <a:avLst>
              <a:gd name="adj" fmla="val 1329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8377733" y="2330388"/>
            <a:ext cx="2991002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8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型チェッカ</a:t>
            </a:r>
            <a:endParaRPr lang="en-US" sz="1980" dirty="0"/>
          </a:p>
        </p:txBody>
      </p:sp>
      <p:sp>
        <p:nvSpPr>
          <p:cNvPr id="17" name="Text 15"/>
          <p:cNvSpPr txBox="1"/>
          <p:nvPr/>
        </p:nvSpPr>
        <p:spPr>
          <a:xfrm>
            <a:off x="8377733" y="2829757"/>
            <a:ext cx="2991002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型の食い違いを見つける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8377733" y="3306932"/>
            <a:ext cx="2991002" cy="1775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None が来るのに考慮していない、</a:t>
            </a:r>
            <a:endParaRPr lang="en-US" sz="132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引数の数が違う。</a:t>
            </a:r>
            <a:endParaRPr lang="en-US" sz="132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pyrefly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825971"/>
            <a:ext cx="11057839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3つとも「人間がレビューで指摘しなくていいこと」を機械に渡す道具です。</a:t>
            </a:r>
            <a:endParaRPr lang="en-US" sz="15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ってなに？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静的チェックを入れる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845"/>
            <a:ext cx="11057839" cy="466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読みは「ラフ」。Python 用のリンタ＋フォーマッタで、今日の話で使う道具はこれ1つです。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2130641"/>
            <a:ext cx="5323180" cy="1842117"/>
          </a:xfrm>
          <a:prstGeom prst="roundRect">
            <a:avLst>
              <a:gd name="adj" fmla="val 2482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841248" y="2352583"/>
            <a:ext cx="4774540" cy="399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リンタとフォーマッタが1本に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18660"/>
            <a:ext cx="4774540" cy="998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これまで flake8・isort・black などを</a:t>
            </a:r>
            <a:endParaRPr lang="en-US" sz="13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別々に入れていた役割を、ruff だけで</a:t>
            </a:r>
            <a:endParaRPr lang="en-US" sz="13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まかなえます。入れるものが減る。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6301588" y="2130641"/>
            <a:ext cx="5323180" cy="1842117"/>
          </a:xfrm>
          <a:prstGeom prst="roundRect">
            <a:avLst>
              <a:gd name="adj" fmla="val 2482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6575908" y="2352583"/>
            <a:ext cx="4774540" cy="399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Rust 製で、とにかく速い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575908" y="2796466"/>
            <a:ext cx="1783080" cy="466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0.09 秒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450428" y="2740981"/>
            <a:ext cx="2900020" cy="105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300ファイル・12,000行を</a:t>
            </a:r>
            <a:endParaRPr lang="en-US" sz="132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手元で実測した値。</a:t>
            </a:r>
            <a:endParaRPr lang="en-US" sz="132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遅いから後回し、が起きない。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566928" y="4105922"/>
            <a:ext cx="5323180" cy="1842117"/>
          </a:xfrm>
          <a:prstGeom prst="roundRect">
            <a:avLst>
              <a:gd name="adj" fmla="val 2482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841248" y="4327864"/>
            <a:ext cx="4774540" cy="399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ルールは最初から入っている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771748"/>
            <a:ext cx="1783080" cy="466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955 個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2715768" y="4716262"/>
            <a:ext cx="2900020" cy="105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59個のツール相当を収録。</a:t>
            </a:r>
            <a:endParaRPr lang="en-US" sz="132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既定で有効なのはごく一部で、</a:t>
            </a:r>
            <a:endParaRPr lang="en-US" sz="132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必要なものだけ足していきます。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6301588" y="4105922"/>
            <a:ext cx="5323180" cy="1842117"/>
          </a:xfrm>
          <a:prstGeom prst="roundRect">
            <a:avLst>
              <a:gd name="adj" fmla="val 2482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6575908" y="4327864"/>
            <a:ext cx="4774540" cy="399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設定は pyproject.toml に数行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6575908" y="4793942"/>
            <a:ext cx="4774540" cy="998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専用の設定ファイルが増えません。</a:t>
            </a:r>
            <a:endParaRPr lang="en-US" sz="13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リポジトリに置いておけば、チーム全員が</a:t>
            </a:r>
            <a:endParaRPr lang="en-US" sz="13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同じ設定で動きます。</a:t>
            </a:r>
            <a:endParaRPr lang="en-US" sz="138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236563"/>
            <a:ext cx="11057839" cy="466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今日覚えて帰るコマンドは ruff check（指摘する）と ruff format（整形する）の2つだけです。</a:t>
            </a:r>
            <a:endParaRPr lang="en-US" sz="15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を入れる ― かかる時間は1分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静的チェックを入れる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563"/>
            <a:ext cx="5486400" cy="1760403"/>
          </a:xfrm>
          <a:prstGeom prst="roundRect">
            <a:avLst>
              <a:gd name="adj" fmla="val 3117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68096" y="1775534"/>
            <a:ext cx="5084064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231491"/>
            <a:ext cx="5084064" cy="1038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pip install ruff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ruff check .        # 怪しい書き方を指摘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ruff format .       # 書式を揃える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ruff check --fix .  # 直せるものは自動で直す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373368" y="1664563"/>
            <a:ext cx="5251399" cy="1760403"/>
          </a:xfrm>
          <a:prstGeom prst="roundRect">
            <a:avLst>
              <a:gd name="adj" fmla="val 3117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6574536" y="1775534"/>
            <a:ext cx="4849063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74536" y="2231491"/>
            <a:ext cx="4849063" cy="1038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[tool.ruff]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line-length = 100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[tool.ruff.lint]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extend-select = ["I", "UP", "B"]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883981"/>
            <a:ext cx="11057839" cy="1886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4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Rust製で速い。数千ファイルでも1秒前後で終わるので、保存のたびに回せる</a:t>
            </a:r>
            <a:endParaRPr lang="en-US" sz="15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4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flake8 / isort / black などを1つに置き換えられる。入れるものが1個で済む</a:t>
            </a:r>
            <a:endParaRPr lang="en-US" sz="15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4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拡張を入れると、保存時に自動整形＋その場で波線が出る</a:t>
            </a:r>
            <a:endParaRPr lang="en-US" sz="15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入れた直後は、警告が何百件も出ます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静的チェックを入れる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845"/>
            <a:ext cx="11057839" cy="466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ここで心が折れて終わる、というのが一番よくある失敗です。対処は決まっています。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2163932"/>
            <a:ext cx="3503066" cy="2774272"/>
          </a:xfrm>
          <a:prstGeom prst="roundRect">
            <a:avLst>
              <a:gd name="adj" fmla="val 1648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804672" y="249542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804672" y="249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051699"/>
            <a:ext cx="3027578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 format だけ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784107"/>
            <a:ext cx="3027578" cy="1109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書式の自動整形から入る。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意味が変わらない変更なので、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レビューも通しやすい。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344314" y="2163932"/>
            <a:ext cx="3503066" cy="2774272"/>
          </a:xfrm>
          <a:prstGeom prst="roundRect">
            <a:avLst>
              <a:gd name="adj" fmla="val 1648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582058" y="249542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4582058" y="249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4582058" y="3051699"/>
            <a:ext cx="3027578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ルールは少しずつ足す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4582058" y="3784107"/>
            <a:ext cx="3027578" cy="1109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最初は既定のまま。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慣れてきたら extend-select に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1カテゴリずつ追加する。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121701" y="2163932"/>
            <a:ext cx="3503066" cy="2774272"/>
          </a:xfrm>
          <a:prstGeom prst="roundRect">
            <a:avLst>
              <a:gd name="adj" fmla="val 1648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8359445" y="249542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8359445" y="249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20" name="Text 18"/>
          <p:cNvSpPr txBox="1"/>
          <p:nvPr/>
        </p:nvSpPr>
        <p:spPr>
          <a:xfrm>
            <a:off x="8359445" y="3051699"/>
            <a:ext cx="3027578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既存分は一旦棚上げ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359445" y="3784107"/>
            <a:ext cx="3027578" cy="1109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全部直すのは無理。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新しく書くコードから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守るようにすれば十分。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566928" y="5215631"/>
            <a:ext cx="11057839" cy="943252"/>
          </a:xfrm>
          <a:prstGeom prst="roundRect">
            <a:avLst>
              <a:gd name="adj" fmla="val 4847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886968" y="5215631"/>
            <a:ext cx="10417759" cy="943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b="1" dirty="0">
                <a:solidFill>
                  <a:srgbClr val="8A5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全部を緑にしてから始めよう、と思わないこと。警告が出ている状態のまま使い始めて大丈夫です。</a:t>
            </a:r>
            <a:endParaRPr lang="en-US" sz="15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pyrefly ― 実行前に食い違いを見つける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静的チェックを入れる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563"/>
            <a:ext cx="6126480" cy="2175614"/>
          </a:xfrm>
          <a:prstGeom prst="roundRect">
            <a:avLst>
              <a:gd name="adj" fmla="val 2522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68096" y="1775534"/>
            <a:ext cx="5724144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型を書くと、食い違いが実行前に分かる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231491"/>
            <a:ext cx="5724144" cy="1453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find_user(uid: int) -&gt; User | None: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find_user(10)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print(user.name)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ERROR Object of class `NoneType`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has no attribute `name`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939466"/>
            <a:ext cx="11057839" cy="2108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テストは「書いたケース」しか通らない。型は書かなくても全経路を見る</a:t>
            </a:r>
            <a:endParaRPr lang="en-US" sz="154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4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None チェック漏れは、テストで再現しづらく、本番で落ちる典型</a:t>
            </a:r>
            <a:endParaRPr lang="en-US" sz="154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4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既存コードに strict をいきなりかけない。まず新規ファイルだけ対象にする</a:t>
            </a:r>
            <a:endParaRPr lang="en-US" sz="154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4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型を書く作業そのものが、関数の責務を言葉にする作業になる</a:t>
            </a:r>
            <a:endParaRPr lang="en-US" sz="15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69225"/>
            <a:ext cx="786384" cy="7863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841248" y="2969225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6466"/>
            <a:ext cx="9686239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警告は「テストが書けない形」のサイン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3262"/>
            <a:ext cx="9411919" cy="554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の警告は、そのまま「テストが書けない理由」になっている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このコードに、ruff は何も言いません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テストが書けない形のサイン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498107"/>
            <a:ext cx="6720840" cy="4266928"/>
          </a:xfrm>
          <a:prstGeom prst="roundRect">
            <a:avLst>
              <a:gd name="adj" fmla="val 1592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68096" y="1609078"/>
            <a:ext cx="6318504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billing.py（抜粋）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065035"/>
            <a:ext cx="6318504" cy="3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calc_invoice(items, member_rank, coupon, ship_to, pay_method):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"""請求額を計算する.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items: [{"category": "book" | "food" | その他, "price", "qty"}]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member_rank: "gold" | "silver" | "bronze" | その他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coupon: "SPRING" | "NEWYEAR" | None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ship_to: "remote" | "island" | その他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pay_method: "cod" | "bank" | その他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0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it in items: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price = it["price"] * it["qty"]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it["category"] == "book":   price = price * 0.95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it["category"] == "food": price = price * 0.98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+= price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member_rank == "gold":     total = total * 0.90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 （このあと 値引き・クーポン・送料・手数料・消費税で40行ほど続く）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int(total)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7607808" y="1498107"/>
            <a:ext cx="4016959" cy="1102986"/>
          </a:xfrm>
          <a:prstGeom prst="roundRect">
            <a:avLst>
              <a:gd name="adj" fmla="val 4974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7808976" y="1609078"/>
            <a:ext cx="3614623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既定設定での実行結果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08976" y="2065035"/>
            <a:ext cx="3614623" cy="380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1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ruff check billing.py</a:t>
            </a:r>
            <a:endParaRPr lang="en-US" sz="121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10" b="1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checks passed!</a:t>
            </a:r>
            <a:endParaRPr lang="en-US" sz="1210" dirty="0"/>
          </a:p>
        </p:txBody>
      </p:sp>
      <p:sp>
        <p:nvSpPr>
          <p:cNvPr id="12" name="Shape 10"/>
          <p:cNvSpPr/>
          <p:nvPr/>
        </p:nvSpPr>
        <p:spPr>
          <a:xfrm>
            <a:off x="7607808" y="3051699"/>
            <a:ext cx="738835" cy="332913"/>
          </a:xfrm>
          <a:prstGeom prst="roundRect">
            <a:avLst>
              <a:gd name="adj" fmla="val 41200"/>
            </a:avLst>
          </a:prstGeom>
          <a:solidFill>
            <a:srgbClr val="E6F4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7607808" y="3051699"/>
            <a:ext cx="738835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PASS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7607808" y="3662039"/>
            <a:ext cx="4016959" cy="2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の既定ルールは、構文エラーと未使用importが中心。</a:t>
            </a:r>
            <a:endParaRPr lang="en-US" sz="13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「長い」「複雑」は、既定では何も言ってくれません。</a:t>
            </a:r>
            <a:endParaRPr lang="en-US" sz="13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endParaRPr lang="en-US" sz="13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引数の取りうる値は、docstring に Google スタイルで書いておく。</a:t>
            </a:r>
            <a:endParaRPr lang="en-US" sz="13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では、この関数にテストを書けますか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テストが書けない形のサイン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75534"/>
            <a:ext cx="3503066" cy="3329126"/>
          </a:xfrm>
          <a:prstGeom prst="roundRect">
            <a:avLst>
              <a:gd name="adj" fmla="val 1373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04672" y="210702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804672" y="21070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663301"/>
            <a:ext cx="3027578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入力の組み合わせが爆発する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395709"/>
            <a:ext cx="3027578" cy="166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引数5つ。カテゴリ3種 × ランク4種 × クーポン3種 × 配送3種 × 決済3種。網羅しようとすると数百ケース。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4344314" y="1775534"/>
            <a:ext cx="3503066" cy="3329126"/>
          </a:xfrm>
          <a:prstGeom prst="roundRect">
            <a:avLst>
              <a:gd name="adj" fmla="val 1373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82058" y="210702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4582058" y="21070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4582058" y="2663301"/>
            <a:ext cx="3027578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途中の結果が確認できない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82058" y="3395709"/>
            <a:ext cx="3027578" cy="166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値引きは合っているのか、送料の判定は合っているのか。最後の1つの数字からは切り分けられない。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121701" y="1775534"/>
            <a:ext cx="3503066" cy="3329126"/>
          </a:xfrm>
          <a:prstGeom prst="roundRect">
            <a:avLst>
              <a:gd name="adj" fmla="val 1373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359445" y="210702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8359445" y="21070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 txBox="1"/>
          <p:nvPr/>
        </p:nvSpPr>
        <p:spPr>
          <a:xfrm>
            <a:off x="8359445" y="2663301"/>
            <a:ext cx="3027578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1か所直すと全部が影響を受ける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8359445" y="3395709"/>
            <a:ext cx="3027578" cy="166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total という1つの変数を上から下まで書き換え続けている。どこを触っても最後の値が変わる。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566928" y="5382087"/>
            <a:ext cx="11057839" cy="887767"/>
          </a:xfrm>
          <a:prstGeom prst="roundRect">
            <a:avLst>
              <a:gd name="adj" fmla="val 5150"/>
            </a:avLst>
          </a:prstGeom>
          <a:solidFill>
            <a:srgbClr val="E6F4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886968" y="5382087"/>
            <a:ext cx="10417759" cy="887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書く気がないのではなく、この形だと書けない。 ＝ 先に形を変える必要がある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設定を数行足すと、機械が教えてくれる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テストが書けない形のサイン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553592"/>
            <a:ext cx="5577840" cy="1968008"/>
          </a:xfrm>
          <a:prstGeom prst="roundRect">
            <a:avLst>
              <a:gd name="adj" fmla="val 2788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68096" y="1664563"/>
            <a:ext cx="5175504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120520"/>
            <a:ext cx="5175504" cy="1245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[tool.ruff.lint]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extend-select = ["C901", "PLR0912",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"PLR0913", "PLR0915"]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[tool.ruff.lint.mccabe]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max-complexity = 10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464808" y="1553592"/>
            <a:ext cx="5159959" cy="1760403"/>
          </a:xfrm>
          <a:prstGeom prst="roundRect">
            <a:avLst>
              <a:gd name="adj" fmla="val 3117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6665976" y="1664563"/>
            <a:ext cx="4757623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実行結果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65976" y="2120520"/>
            <a:ext cx="4757623" cy="1038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ruff check billing.py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C901 `calc_invoice` is too complex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(17 &gt; 10)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PLR0912 Too many branches (18 &gt; 12)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2 errors.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464808" y="3717524"/>
            <a:ext cx="738835" cy="332913"/>
          </a:xfrm>
          <a:prstGeom prst="roundRect">
            <a:avLst>
              <a:gd name="adj" fmla="val 41200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64808" y="3717524"/>
            <a:ext cx="738835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FAIL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383350"/>
            <a:ext cx="11057839" cy="554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同じコード、同じ ruff。設定を数行足しただけで、さっきの「テストが書けない3つの理由」が数字で出てきます。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049175"/>
            <a:ext cx="11057839" cy="998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複雑度17 = このコードを全部通すには最低17本のテストが要る、という意味。分岐18個も同じこと。</a:t>
            </a:r>
            <a:endParaRPr lang="en-US" sz="14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つまりこの数字は、そのまま「テストを書くのに必要な労力」の見積もりになっています。</a:t>
            </a:r>
            <a:endParaRPr lang="en-US" sz="14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457200" y="2139696"/>
            <a:ext cx="11277295" cy="5120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しきい値の目安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テストが書けない形のサイン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845"/>
            <a:ext cx="11057839" cy="466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いずれも既定ではオフ。有効にすると、この値を超えたときに指摘されます。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63932"/>
            <a:ext cx="1645920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2304288" y="2163932"/>
            <a:ext cx="4572000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見ているもの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6967728" y="2163932"/>
            <a:ext cx="1097280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既定値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8156448" y="2163932"/>
            <a:ext cx="3200400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超えていたら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457200" y="2652204"/>
            <a:ext cx="11277295" cy="688019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566928" y="2685495"/>
            <a:ext cx="164592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C901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685495"/>
            <a:ext cx="457200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分岐の複雑さ（McCabe）</a:t>
            </a:r>
            <a:endParaRPr lang="en-US" sz="1490" dirty="0"/>
          </a:p>
        </p:txBody>
      </p:sp>
      <p:sp>
        <p:nvSpPr>
          <p:cNvPr id="14" name="Text 12"/>
          <p:cNvSpPr txBox="1"/>
          <p:nvPr/>
        </p:nvSpPr>
        <p:spPr>
          <a:xfrm>
            <a:off x="6967728" y="2685495"/>
            <a:ext cx="109728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490" dirty="0"/>
          </a:p>
        </p:txBody>
      </p:sp>
      <p:sp>
        <p:nvSpPr>
          <p:cNvPr id="15" name="Text 13"/>
          <p:cNvSpPr txBox="1"/>
          <p:nvPr/>
        </p:nvSpPr>
        <p:spPr>
          <a:xfrm>
            <a:off x="8156448" y="2685495"/>
            <a:ext cx="320040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関数を分けるサイン</a:t>
            </a:r>
            <a:endParaRPr lang="en-US" sz="149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373515"/>
            <a:ext cx="164592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PLR0912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2304288" y="3373515"/>
            <a:ext cx="457200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分岐の数</a:t>
            </a:r>
            <a:endParaRPr lang="en-US" sz="1490" dirty="0"/>
          </a:p>
        </p:txBody>
      </p:sp>
      <p:sp>
        <p:nvSpPr>
          <p:cNvPr id="18" name="Text 16"/>
          <p:cNvSpPr txBox="1"/>
          <p:nvPr/>
        </p:nvSpPr>
        <p:spPr>
          <a:xfrm>
            <a:off x="6967728" y="3373515"/>
            <a:ext cx="109728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490" dirty="0"/>
          </a:p>
        </p:txBody>
      </p:sp>
      <p:sp>
        <p:nvSpPr>
          <p:cNvPr id="19" name="Text 17"/>
          <p:cNvSpPr txBox="1"/>
          <p:nvPr/>
        </p:nvSpPr>
        <p:spPr>
          <a:xfrm>
            <a:off x="8156448" y="3373515"/>
            <a:ext cx="320040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条件をまとめられないか見る</a:t>
            </a:r>
            <a:endParaRPr lang="en-US" sz="1490" dirty="0"/>
          </a:p>
        </p:txBody>
      </p:sp>
      <p:sp>
        <p:nvSpPr>
          <p:cNvPr id="20" name="Shape 18"/>
          <p:cNvSpPr/>
          <p:nvPr/>
        </p:nvSpPr>
        <p:spPr>
          <a:xfrm>
            <a:off x="457200" y="4028243"/>
            <a:ext cx="11277295" cy="688019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566928" y="4061534"/>
            <a:ext cx="164592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PLR0913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2304288" y="4061534"/>
            <a:ext cx="457200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引数の数</a:t>
            </a:r>
            <a:endParaRPr lang="en-US" sz="1490" dirty="0"/>
          </a:p>
        </p:txBody>
      </p:sp>
      <p:sp>
        <p:nvSpPr>
          <p:cNvPr id="23" name="Text 21"/>
          <p:cNvSpPr txBox="1"/>
          <p:nvPr/>
        </p:nvSpPr>
        <p:spPr>
          <a:xfrm>
            <a:off x="6967728" y="4061534"/>
            <a:ext cx="109728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49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4061534"/>
            <a:ext cx="320040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引数をまとめる／責務が多い</a:t>
            </a:r>
            <a:endParaRPr lang="en-US" sz="149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4749553"/>
            <a:ext cx="164592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PLR0915</a:t>
            </a:r>
            <a:endParaRPr lang="en-US" sz="1430" dirty="0"/>
          </a:p>
        </p:txBody>
      </p:sp>
      <p:sp>
        <p:nvSpPr>
          <p:cNvPr id="26" name="Text 24"/>
          <p:cNvSpPr txBox="1"/>
          <p:nvPr/>
        </p:nvSpPr>
        <p:spPr>
          <a:xfrm>
            <a:off x="2304288" y="4749553"/>
            <a:ext cx="457200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文の数</a:t>
            </a:r>
            <a:endParaRPr lang="en-US" sz="1490" dirty="0"/>
          </a:p>
        </p:txBody>
      </p:sp>
      <p:sp>
        <p:nvSpPr>
          <p:cNvPr id="27" name="Text 25"/>
          <p:cNvSpPr txBox="1"/>
          <p:nvPr/>
        </p:nvSpPr>
        <p:spPr>
          <a:xfrm>
            <a:off x="6967728" y="4749553"/>
            <a:ext cx="109728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</a:t>
            </a:r>
            <a:endParaRPr lang="en-US" sz="1490" dirty="0"/>
          </a:p>
        </p:txBody>
      </p:sp>
      <p:sp>
        <p:nvSpPr>
          <p:cNvPr id="28" name="Text 26"/>
          <p:cNvSpPr txBox="1"/>
          <p:nvPr/>
        </p:nvSpPr>
        <p:spPr>
          <a:xfrm>
            <a:off x="8156448" y="4749553"/>
            <a:ext cx="3200400" cy="621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単純に長すぎる</a:t>
            </a:r>
            <a:endParaRPr lang="en-US" sz="149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881456"/>
            <a:ext cx="11057839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数字は絶対的な正解ではありません。既定のまま始めて、うるさすぎたら緩める、で十分です。</a:t>
            </a:r>
            <a:endParaRPr lang="en-US" sz="14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docstring も Google スタイルで揃えられる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テストが書けない形のサイン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553592"/>
            <a:ext cx="5577840" cy="1968008"/>
          </a:xfrm>
          <a:prstGeom prst="roundRect">
            <a:avLst>
              <a:gd name="adj" fmla="val 2788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68096" y="1664563"/>
            <a:ext cx="5175504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120520"/>
            <a:ext cx="5175504" cy="1245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[tool.ruff.lint]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extend-select = ["D", "ANN"]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[tool.ruff.lint.pydocstyle]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convention = "google"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464808" y="1553592"/>
            <a:ext cx="5159959" cy="1760403"/>
          </a:xfrm>
          <a:prstGeom prst="roundRect">
            <a:avLst>
              <a:gd name="adj" fmla="val 3117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6665976" y="1664563"/>
            <a:ext cx="4757623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実行結果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65976" y="2120520"/>
            <a:ext cx="4757623" cy="1038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ruff check billing.py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D417 Missing argument description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in the docstring for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`calc_invoice`: `pay_method`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 b="1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1 error.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464808" y="3717524"/>
            <a:ext cx="738835" cy="332913"/>
          </a:xfrm>
          <a:prstGeom prst="roundRect">
            <a:avLst>
              <a:gd name="adj" fmla="val 41200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64808" y="3717524"/>
            <a:ext cx="738835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FAIL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383350"/>
            <a:ext cx="11057839" cy="554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引数を足したのに docstring の Args を直し忘れると、ruff が落としてくれます。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049175"/>
            <a:ext cx="11057839" cy="998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 は docstring の書き方、ANN は型注釈の書き忘れ。型は pyrefly が、値のパターンは docstring が受け持つ。</a:t>
            </a:r>
            <a:endParaRPr lang="en-US" sz="143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Args に「取りうる値」を書いておけば、テストケースの入力表がそのまま読み取れます。</a:t>
            </a:r>
            <a:endParaRPr lang="en-US" sz="14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69225"/>
            <a:ext cx="786384" cy="7863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841248" y="2969225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6466"/>
            <a:ext cx="9686239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安全網を張る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3262"/>
            <a:ext cx="9411919" cy="554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テストがないコードを、テストなしで安全に直す方法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でも、ここで詰まります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安全網を張る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24128" y="2052961"/>
            <a:ext cx="4206240" cy="1664563"/>
          </a:xfrm>
          <a:prstGeom prst="roundRect">
            <a:avLst>
              <a:gd name="adj" fmla="val 3296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298448" y="2052961"/>
            <a:ext cx="3657600" cy="1664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7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安全に直したい</a:t>
            </a:r>
            <a:endParaRPr lang="en-US" sz="187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87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だからテストが欲しい</a:t>
            </a:r>
            <a:endParaRPr lang="en-US" sz="1870" dirty="0"/>
          </a:p>
        </p:txBody>
      </p:sp>
      <p:sp>
        <p:nvSpPr>
          <p:cNvPr id="8" name="Shape 6"/>
          <p:cNvSpPr/>
          <p:nvPr/>
        </p:nvSpPr>
        <p:spPr>
          <a:xfrm>
            <a:off x="6961327" y="2052961"/>
            <a:ext cx="4206240" cy="1664563"/>
          </a:xfrm>
          <a:prstGeom prst="roundRect">
            <a:avLst>
              <a:gd name="adj" fmla="val 3296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7235647" y="2052961"/>
            <a:ext cx="3657600" cy="1664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7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テストを書きたい</a:t>
            </a:r>
            <a:endParaRPr lang="en-US" sz="187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87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だから先に分割したい</a:t>
            </a:r>
            <a:endParaRPr lang="en-US" sz="1870" dirty="0"/>
          </a:p>
        </p:txBody>
      </p:sp>
      <p:sp>
        <p:nvSpPr>
          <p:cNvPr id="10" name="Text 8"/>
          <p:cNvSpPr txBox="1"/>
          <p:nvPr/>
        </p:nvSpPr>
        <p:spPr>
          <a:xfrm>
            <a:off x="5230368" y="2496845"/>
            <a:ext cx="1730959" cy="776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B4C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⇄</a:t>
            </a:r>
            <a:endParaRPr lang="en-US" sz="3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994951"/>
            <a:ext cx="11057839" cy="49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鶏と卵。ここで止まると、結局テストは1本も増えません。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1938528" y="4771748"/>
            <a:ext cx="8314639" cy="1220680"/>
          </a:xfrm>
          <a:prstGeom prst="roundRect">
            <a:avLst>
              <a:gd name="adj" fmla="val 4495"/>
            </a:avLst>
          </a:prstGeom>
          <a:solidFill>
            <a:srgbClr val="E6F4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2212848" y="4771748"/>
            <a:ext cx="7765999" cy="122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9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私はここで、ゴールデンマスターテストを使いました</a:t>
            </a:r>
            <a:endParaRPr lang="en-US" sz="209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ゴールデンマスターテスト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安全網を張る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09078"/>
            <a:ext cx="11057839" cy="1276165"/>
          </a:xfrm>
          <a:prstGeom prst="roundRect">
            <a:avLst>
              <a:gd name="adj" fmla="val 4299"/>
            </a:avLst>
          </a:prstGeom>
          <a:solidFill>
            <a:srgbClr val="E6F4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932688" y="1609078"/>
            <a:ext cx="10326319" cy="1276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「正しい仕様」ではなく「今の振る舞い」を正解として記録し、変わっていないことだけを確認する</a:t>
            </a:r>
            <a:endParaRPr lang="en-US" sz="198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218155"/>
            <a:ext cx="5346040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向いていること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717524"/>
            <a:ext cx="5346040" cy="2108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仕様書がない、書いた人がもういない</a:t>
            </a:r>
            <a:endParaRPr lang="en-US" sz="149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入力を渡すと結果が返る形になっている</a:t>
            </a:r>
            <a:endParaRPr lang="en-US" sz="149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とにかく「壊していない」ことを保証したい</a:t>
            </a:r>
            <a:endParaRPr lang="en-US" sz="149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リファクタリングの前に、急いで安全網が欲しい</a:t>
            </a:r>
            <a:endParaRPr lang="en-US" sz="1490" dirty="0"/>
          </a:p>
        </p:txBody>
      </p:sp>
      <p:sp>
        <p:nvSpPr>
          <p:cNvPr id="10" name="Text 8"/>
          <p:cNvSpPr txBox="1"/>
          <p:nvPr/>
        </p:nvSpPr>
        <p:spPr>
          <a:xfrm>
            <a:off x="6278728" y="3218155"/>
            <a:ext cx="5346040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向いていないこと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3717524"/>
            <a:ext cx="5346040" cy="2108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仕様が固まっていて、これから作る新規コード</a:t>
            </a:r>
            <a:endParaRPr lang="en-US" sz="149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実行のたびに結果が変わる（時刻・乱数・DB）</a:t>
            </a:r>
            <a:endParaRPr lang="en-US" sz="149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1回の実行にとても時間がかかる処理</a:t>
            </a:r>
            <a:endParaRPr lang="en-US" sz="149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「正しさ」そのものを検証したい場面</a:t>
            </a:r>
            <a:endParaRPr lang="en-US" sz="149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作り方は3ステップ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安全網を張る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75534"/>
            <a:ext cx="3503066" cy="2885243"/>
          </a:xfrm>
          <a:prstGeom prst="roundRect">
            <a:avLst>
              <a:gd name="adj" fmla="val 1585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04672" y="210702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804672" y="21070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663301"/>
            <a:ext cx="3027578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入力を機械的に作る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395709"/>
            <a:ext cx="3027578" cy="122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テストケースを人間が考えない。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ありうる値の組み合わせを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すべて作ってしまう。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4344314" y="1775534"/>
            <a:ext cx="3503066" cy="2885243"/>
          </a:xfrm>
          <a:prstGeom prst="roundRect">
            <a:avLst>
              <a:gd name="adj" fmla="val 1585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82058" y="210702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4582058" y="21070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4582058" y="2663301"/>
            <a:ext cx="3027578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今の出力を丸ごと記録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82058" y="3395709"/>
            <a:ext cx="3027578" cy="122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1回だけ実行して、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入力と出力のペアを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ファイルに書き出す。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121701" y="1775534"/>
            <a:ext cx="3503066" cy="2885243"/>
          </a:xfrm>
          <a:prstGeom prst="roundRect">
            <a:avLst>
              <a:gd name="adj" fmla="val 1585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359445" y="210702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8359445" y="21070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 txBox="1"/>
          <p:nvPr/>
        </p:nvSpPr>
        <p:spPr>
          <a:xfrm>
            <a:off x="8359445" y="2663301"/>
            <a:ext cx="3027578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以降はそれと比較する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8359445" y="3395709"/>
            <a:ext cx="3027578" cy="122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リファクタリングのたびに実行。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1つでも値が変わったら落ちる。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566928" y="4938204"/>
            <a:ext cx="11057839" cy="1165194"/>
          </a:xfrm>
          <a:prstGeom prst="roundRect">
            <a:avLst>
              <a:gd name="adj" fmla="val 3924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886968" y="4938204"/>
            <a:ext cx="10417759" cy="1165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ポイントは1番。テストケースを考えるのが一番しんどいところなので、そこを機械に任せます。</a:t>
            </a:r>
            <a:endParaRPr lang="en-US" sz="149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仕様を理解していなくても、コードが何を返すかは実行すれば分かる ― これがこの手法の核心です。</a:t>
            </a:r>
            <a:endParaRPr lang="en-US" sz="149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その前に ― itertools.product の動き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安全網を張る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845"/>
            <a:ext cx="11057839" cy="466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「全部の組み合わせ」は、標準ライブラリの1行で作れます。まずここだけ見てください。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2163932"/>
            <a:ext cx="6675120" cy="2798430"/>
          </a:xfrm>
          <a:prstGeom prst="roundRect">
            <a:avLst>
              <a:gd name="adj" fmla="val 1961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768096" y="2274903"/>
            <a:ext cx="6272784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小さい例で確かめる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730860"/>
            <a:ext cx="6272784" cy="2076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itertools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sizes  = ["S", "M", "L"]      # 3種類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 = ["赤", "青"]          # 2種類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list(itertools.product(sizes, colors))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[("S", "赤"), ("S", "青"),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("M", "赤"), ("M", "青"),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("L", "赤"), ("L", "青")]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562088" y="2163932"/>
            <a:ext cx="4062679" cy="1387136"/>
          </a:xfrm>
          <a:prstGeom prst="roundRect">
            <a:avLst>
              <a:gd name="adj" fmla="val 3296"/>
            </a:avLst>
          </a:prstGeom>
          <a:solidFill>
            <a:srgbClr val="E6F4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7562088" y="2163932"/>
            <a:ext cx="4062679" cy="754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2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× 2 = 6 通り</a:t>
            </a:r>
            <a:endParaRPr lang="en-US" sz="2420" dirty="0"/>
          </a:p>
        </p:txBody>
      </p:sp>
      <p:sp>
        <p:nvSpPr>
          <p:cNvPr id="12" name="Text 10"/>
          <p:cNvSpPr txBox="1"/>
          <p:nvPr/>
        </p:nvSpPr>
        <p:spPr>
          <a:xfrm>
            <a:off x="7790688" y="2863049"/>
            <a:ext cx="3605479" cy="554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渡したリストの個数を掛けた数だけ、漏れなく出てくる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7562088" y="3828495"/>
            <a:ext cx="4062679" cy="177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3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リストを渡すだけ。組み合わせは書かない</a:t>
            </a:r>
            <a:endParaRPr lang="en-US" sz="143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「どれを試すべきか」を人間が選ばない</a:t>
            </a:r>
            <a:endParaRPr lang="en-US" sz="143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選んでいないので、抜けも起きない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936942"/>
            <a:ext cx="11057839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あとは、この sizes / colors を、実際の入力リストに置き換えるだけです。</a:t>
            </a:r>
            <a:endParaRPr lang="en-US" sz="15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今回の入力リストは、この5つ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安全網を張る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498107"/>
            <a:ext cx="11057839" cy="3308793"/>
          </a:xfrm>
          <a:prstGeom prst="roundRect">
            <a:avLst>
              <a:gd name="adj" fmla="val 1658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68096" y="1609078"/>
            <a:ext cx="10655503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test_golden_master.py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065035"/>
            <a:ext cx="10655503" cy="2586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all_cases():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item_sets = [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[{"category": "book", "price": 1500, "qty": 2}],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[{"category": "food", "price": 300,  "qty": 12}],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[{"category": "book", "price": 4000, "qty": 3},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{"category": "other","price": 800,  "qty": 1}],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ranks    = ["gold", "silver", "bronze", "none"]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coupons  = ["SPRING", "NEWYEAR", None]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ship_tos = ["remote", "island", "normal"]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pays     = ["cod", "bank", "card"]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list(itertools.product(item_sets, ranks, coupons, ship_tos, pays))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467716" y="5126854"/>
            <a:ext cx="1481328" cy="1109709"/>
          </a:xfrm>
          <a:prstGeom prst="roundRect">
            <a:avLst>
              <a:gd name="adj" fmla="val 4120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559156" y="5248922"/>
            <a:ext cx="1298448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商品の組み合わせ</a:t>
            </a:r>
            <a:endParaRPr lang="en-US" sz="1210" dirty="0"/>
          </a:p>
        </p:txBody>
      </p:sp>
      <p:sp>
        <p:nvSpPr>
          <p:cNvPr id="11" name="Text 9"/>
          <p:cNvSpPr txBox="1"/>
          <p:nvPr/>
        </p:nvSpPr>
        <p:spPr>
          <a:xfrm>
            <a:off x="559156" y="5548544"/>
            <a:ext cx="1298448" cy="24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item_sets</a:t>
            </a:r>
            <a:endParaRPr lang="en-US" sz="990" dirty="0"/>
          </a:p>
        </p:txBody>
      </p:sp>
      <p:sp>
        <p:nvSpPr>
          <p:cNvPr id="12" name="Text 10"/>
          <p:cNvSpPr txBox="1"/>
          <p:nvPr/>
        </p:nvSpPr>
        <p:spPr>
          <a:xfrm>
            <a:off x="559156" y="5792680"/>
            <a:ext cx="1298448" cy="35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種類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949044" y="5126854"/>
            <a:ext cx="310896" cy="110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9AA8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2259940" y="5126854"/>
            <a:ext cx="1481328" cy="1109709"/>
          </a:xfrm>
          <a:prstGeom prst="roundRect">
            <a:avLst>
              <a:gd name="adj" fmla="val 4120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2351380" y="5248922"/>
            <a:ext cx="1298448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会員ランク</a:t>
            </a:r>
            <a:endParaRPr lang="en-US" sz="1210" dirty="0"/>
          </a:p>
        </p:txBody>
      </p:sp>
      <p:sp>
        <p:nvSpPr>
          <p:cNvPr id="16" name="Text 14"/>
          <p:cNvSpPr txBox="1"/>
          <p:nvPr/>
        </p:nvSpPr>
        <p:spPr>
          <a:xfrm>
            <a:off x="2351380" y="5548544"/>
            <a:ext cx="1298448" cy="24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ranks</a:t>
            </a:r>
            <a:endParaRPr lang="en-US" sz="990" dirty="0"/>
          </a:p>
        </p:txBody>
      </p:sp>
      <p:sp>
        <p:nvSpPr>
          <p:cNvPr id="17" name="Text 15"/>
          <p:cNvSpPr txBox="1"/>
          <p:nvPr/>
        </p:nvSpPr>
        <p:spPr>
          <a:xfrm>
            <a:off x="2351380" y="5792680"/>
            <a:ext cx="1298448" cy="35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種類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3741268" y="5126854"/>
            <a:ext cx="310896" cy="110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9AA8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4052164" y="5126854"/>
            <a:ext cx="1481328" cy="1109709"/>
          </a:xfrm>
          <a:prstGeom prst="roundRect">
            <a:avLst>
              <a:gd name="adj" fmla="val 4120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4143604" y="5248922"/>
            <a:ext cx="1298448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クーポン</a:t>
            </a:r>
            <a:endParaRPr lang="en-US" sz="1210" dirty="0"/>
          </a:p>
        </p:txBody>
      </p:sp>
      <p:sp>
        <p:nvSpPr>
          <p:cNvPr id="21" name="Text 19"/>
          <p:cNvSpPr txBox="1"/>
          <p:nvPr/>
        </p:nvSpPr>
        <p:spPr>
          <a:xfrm>
            <a:off x="4143604" y="5548544"/>
            <a:ext cx="1298448" cy="24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coupons</a:t>
            </a:r>
            <a:endParaRPr lang="en-US" sz="990" dirty="0"/>
          </a:p>
        </p:txBody>
      </p:sp>
      <p:sp>
        <p:nvSpPr>
          <p:cNvPr id="22" name="Text 20"/>
          <p:cNvSpPr txBox="1"/>
          <p:nvPr/>
        </p:nvSpPr>
        <p:spPr>
          <a:xfrm>
            <a:off x="4143604" y="5792680"/>
            <a:ext cx="1298448" cy="35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種類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5533492" y="5126854"/>
            <a:ext cx="310896" cy="110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9AA8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5844388" y="5126854"/>
            <a:ext cx="1481328" cy="1109709"/>
          </a:xfrm>
          <a:prstGeom prst="roundRect">
            <a:avLst>
              <a:gd name="adj" fmla="val 4120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 txBox="1"/>
          <p:nvPr/>
        </p:nvSpPr>
        <p:spPr>
          <a:xfrm>
            <a:off x="5935828" y="5248922"/>
            <a:ext cx="1298448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配送先</a:t>
            </a:r>
            <a:endParaRPr lang="en-US" sz="1210" dirty="0"/>
          </a:p>
        </p:txBody>
      </p:sp>
      <p:sp>
        <p:nvSpPr>
          <p:cNvPr id="26" name="Text 24"/>
          <p:cNvSpPr txBox="1"/>
          <p:nvPr/>
        </p:nvSpPr>
        <p:spPr>
          <a:xfrm>
            <a:off x="5935828" y="5548544"/>
            <a:ext cx="1298448" cy="24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ship_tos</a:t>
            </a:r>
            <a:endParaRPr lang="en-US" sz="990" dirty="0"/>
          </a:p>
        </p:txBody>
      </p:sp>
      <p:sp>
        <p:nvSpPr>
          <p:cNvPr id="27" name="Text 25"/>
          <p:cNvSpPr txBox="1"/>
          <p:nvPr/>
        </p:nvSpPr>
        <p:spPr>
          <a:xfrm>
            <a:off x="5935828" y="5792680"/>
            <a:ext cx="1298448" cy="35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種類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7325716" y="5126854"/>
            <a:ext cx="310896" cy="110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9AA8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636612" y="5126854"/>
            <a:ext cx="1481328" cy="1109709"/>
          </a:xfrm>
          <a:prstGeom prst="roundRect">
            <a:avLst>
              <a:gd name="adj" fmla="val 4120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 txBox="1"/>
          <p:nvPr/>
        </p:nvSpPr>
        <p:spPr>
          <a:xfrm>
            <a:off x="7728052" y="5248922"/>
            <a:ext cx="1298448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決済方法</a:t>
            </a:r>
            <a:endParaRPr lang="en-US" sz="1210" dirty="0"/>
          </a:p>
        </p:txBody>
      </p:sp>
      <p:sp>
        <p:nvSpPr>
          <p:cNvPr id="31" name="Text 29"/>
          <p:cNvSpPr txBox="1"/>
          <p:nvPr/>
        </p:nvSpPr>
        <p:spPr>
          <a:xfrm>
            <a:off x="7728052" y="5548544"/>
            <a:ext cx="1298448" cy="24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pays</a:t>
            </a:r>
            <a:endParaRPr lang="en-US" sz="990" dirty="0"/>
          </a:p>
        </p:txBody>
      </p:sp>
      <p:sp>
        <p:nvSpPr>
          <p:cNvPr id="32" name="Text 30"/>
          <p:cNvSpPr txBox="1"/>
          <p:nvPr/>
        </p:nvSpPr>
        <p:spPr>
          <a:xfrm>
            <a:off x="7728052" y="5792680"/>
            <a:ext cx="1298448" cy="35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種類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9117940" y="5126854"/>
            <a:ext cx="457200" cy="110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9AA8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</a:t>
            </a:r>
            <a:endParaRPr lang="en-US" sz="1870" dirty="0"/>
          </a:p>
        </p:txBody>
      </p:sp>
      <p:sp>
        <p:nvSpPr>
          <p:cNvPr id="34" name="Shape 32"/>
          <p:cNvSpPr/>
          <p:nvPr/>
        </p:nvSpPr>
        <p:spPr>
          <a:xfrm>
            <a:off x="9575140" y="5126854"/>
            <a:ext cx="2148840" cy="1109709"/>
          </a:xfrm>
          <a:prstGeom prst="roundRect">
            <a:avLst>
              <a:gd name="adj" fmla="val 412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 txBox="1"/>
          <p:nvPr/>
        </p:nvSpPr>
        <p:spPr>
          <a:xfrm>
            <a:off x="9575140" y="5282214"/>
            <a:ext cx="2148840" cy="554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324</a:t>
            </a:r>
            <a:endParaRPr lang="en-US" sz="2860" dirty="0"/>
          </a:p>
        </p:txBody>
      </p:sp>
      <p:sp>
        <p:nvSpPr>
          <p:cNvPr id="36" name="Text 34"/>
          <p:cNvSpPr txBox="1"/>
          <p:nvPr/>
        </p:nvSpPr>
        <p:spPr>
          <a:xfrm>
            <a:off x="9575140" y="5825971"/>
            <a:ext cx="2148840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CDE8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ケース</a:t>
            </a:r>
            <a:endParaRPr lang="en-US" sz="132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414117"/>
            <a:ext cx="11057839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リストを5本並べただけ。324通りの入力は、自分では絶対に書かない量です。</a:t>
            </a:r>
            <a:endParaRPr lang="en-US" sz="15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記録する　③ 比較する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安全網を張る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498107"/>
            <a:ext cx="11057839" cy="3507748"/>
          </a:xfrm>
          <a:prstGeom prst="roundRect">
            <a:avLst>
              <a:gd name="adj" fmla="val 1564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68096" y="1609078"/>
            <a:ext cx="10655503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test_golden_master.py（続き）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065035"/>
            <a:ext cx="10655503" cy="2785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 = pathlib.Path(__file__).parent / "golden_master.json"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make_golden():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[{"input": [items, rank, coupon, ship, pay],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"output": calc_invoice(items, rank, coupon, ship, pay)}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items, rank, coupon, ship, pay in all_cases()]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@pytest.mark.skipif(GOLDEN.exists(), reason="作成済み")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test_create_golden_master():          # ② 最初の1回だけ走る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GOLDEN.write_text(json.dumps(make_golden(), ensure_ascii=False, indent=2))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test_behavior_is_unchanged():         # ③ 以降ずっと走る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expected = json.loads(GOLDEN.read_text())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make_golden() == expected</a:t>
            </a:r>
            <a:endParaRPr lang="en-US" sz="127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6103398"/>
            <a:ext cx="11057839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assert は1行だけ。324ケース分の期待値を人間が書く必要はありません。</a:t>
            </a:r>
            <a:endParaRPr lang="en-US" sz="15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デモ：安全網ができた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安全網を張る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563"/>
            <a:ext cx="6583680" cy="1968008"/>
          </a:xfrm>
          <a:prstGeom prst="roundRect">
            <a:avLst>
              <a:gd name="adj" fmla="val 2788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68096" y="1775534"/>
            <a:ext cx="6181344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1回目 ― ゴールデンマスターを作る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231491"/>
            <a:ext cx="6181344" cy="1245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pytest -q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                                     [100%]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passed in 0.01s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ls golden_master.json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golden_master.json   (324 ケース / 80KB)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566928" y="3994951"/>
            <a:ext cx="6583680" cy="1345192"/>
          </a:xfrm>
          <a:prstGeom prst="roundRect">
            <a:avLst>
              <a:gd name="adj" fmla="val 4079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768096" y="4105922"/>
            <a:ext cx="6181344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2回目以降 ― 変わっていないことを確認する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4561879"/>
            <a:ext cx="6181344" cy="62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pytest -q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                                     [100%]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passed, 1 skipped in 0.00s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516368" y="1720049"/>
            <a:ext cx="1774850" cy="332913"/>
          </a:xfrm>
          <a:prstGeom prst="roundRect">
            <a:avLst>
              <a:gd name="adj" fmla="val 41200"/>
            </a:avLst>
          </a:prstGeom>
          <a:solidFill>
            <a:srgbClr val="E6F4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7516368" y="1720049"/>
            <a:ext cx="177485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324ケースを守る網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7516368" y="2552330"/>
            <a:ext cx="4108399" cy="255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4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仕様書は1行も読んでいない</a:t>
            </a:r>
            <a:endParaRPr lang="en-US" sz="15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4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テストケースも1つも考えていない</a:t>
            </a:r>
            <a:endParaRPr lang="en-US" sz="15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4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かかった時間は20分ほど</a:t>
            </a:r>
            <a:endParaRPr lang="en-US" sz="15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4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それでも「壊したら分かる」状態にはなった</a:t>
            </a:r>
            <a:endParaRPr lang="en-US" sz="15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本当に守ってくれるのか、試してみる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安全網を張る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845"/>
            <a:ext cx="11057839" cy="466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gold 会員の割引率を 0.90 → 0.91 に、こっそり書き換えてみます。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2052961"/>
            <a:ext cx="11057839" cy="2512972"/>
          </a:xfrm>
          <a:prstGeom prst="roundRect">
            <a:avLst>
              <a:gd name="adj" fmla="val 2183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768096" y="2163932"/>
            <a:ext cx="10655503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-q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619889"/>
            <a:ext cx="10655503" cy="1790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At index 0 diff: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  {'input': [[{'category': 'book', 'price': 1500, 'qty': 2}],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             'gold', 'SPRING', 'remote', 'cod'],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b="1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   'output': 3923}   ← 今の実行結果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  != 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b="1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   'output': 3895}   ← ゴールデンマスターに記録された値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test_golden_master.py::test_behavior_is_unchanged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b="1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failed, 1 skipped in 0.02s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566928" y="5049175"/>
            <a:ext cx="2279599" cy="332913"/>
          </a:xfrm>
          <a:prstGeom prst="roundRect">
            <a:avLst>
              <a:gd name="adj" fmla="val 41200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566928" y="5049175"/>
            <a:ext cx="2279599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FAIL ― 28円のズレを検出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715000"/>
            <a:ext cx="11057839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どの入力で、いくつが、いくつに変わったのか。落ちたときに、そのまま原因が読めます。</a:t>
            </a:r>
            <a:endParaRPr lang="en-US" sz="15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 ― すり抜けるバグもあります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安全網を張る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845"/>
            <a:ext cx="11057839" cy="466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今度は「送料無料になる金額」を 10000 → 10001 に書き換えてみます。仕様が変わる、明らかなバグです。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2163932"/>
            <a:ext cx="5943600" cy="1345192"/>
          </a:xfrm>
          <a:prstGeom prst="roundRect">
            <a:avLst>
              <a:gd name="adj" fmla="val 4079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768096" y="2274903"/>
            <a:ext cx="5541264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-q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730860"/>
            <a:ext cx="5541264" cy="62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pytest -q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                              [100%]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passed, 1 skipped in 0.01s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566928" y="3662039"/>
            <a:ext cx="1791310" cy="332913"/>
          </a:xfrm>
          <a:prstGeom prst="roundRect">
            <a:avLst>
              <a:gd name="adj" fmla="val 41200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566928" y="3662039"/>
            <a:ext cx="179131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C77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PASS ― 気づけない</a:t>
            </a:r>
            <a:endParaRPr lang="en-US" sz="1210" dirty="0"/>
          </a:p>
        </p:txBody>
      </p:sp>
      <p:sp>
        <p:nvSpPr>
          <p:cNvPr id="12" name="Shape 10"/>
          <p:cNvSpPr/>
          <p:nvPr/>
        </p:nvSpPr>
        <p:spPr>
          <a:xfrm>
            <a:off x="6830568" y="2163932"/>
            <a:ext cx="4794199" cy="3051699"/>
          </a:xfrm>
          <a:prstGeom prst="roundRect">
            <a:avLst>
              <a:gd name="adj" fmla="val 1498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7104888" y="2385874"/>
            <a:ext cx="4245559" cy="38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8A5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なぜ通ってしまうのか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7104888" y="2885243"/>
            <a:ext cx="4245559" cy="216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6B43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324ケースの中に、送料判定の金額が「ちょうど10000円」になる入力が1つもなかったから。</a:t>
            </a:r>
            <a:endParaRPr lang="en-US" sz="1380" dirty="0"/>
          </a:p>
          <a:p>
            <a:pPr marL="0" indent="0">
              <a:lnSpc>
                <a:spcPct val="130000"/>
              </a:lnSpc>
              <a:buNone/>
            </a:pPr>
            <a:endParaRPr lang="en-US" sz="13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6B43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実際の値：… 3528, 9980, 10480, 10590 …</a:t>
            </a:r>
            <a:endParaRPr lang="en-US" sz="13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6B43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10000 を挟んではいるが、境界そのものは踏んでいない。</a:t>
            </a:r>
            <a:endParaRPr lang="en-US" sz="138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493058"/>
            <a:ext cx="11057839" cy="49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ゴールデンマスターが守ってくれるのは「通した入力の範囲」だけ。網の外は素通りします。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だから、境界値だけは自分で足す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安全網を張る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553592"/>
            <a:ext cx="6766560" cy="2175614"/>
          </a:xfrm>
          <a:prstGeom prst="roundRect">
            <a:avLst>
              <a:gd name="adj" fmla="val 2522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68096" y="1664563"/>
            <a:ext cx="6364224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入力セットに1行足すだけ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120520"/>
            <a:ext cx="6364224" cy="1453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item_sets = [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[{"category": "book", "price": 1500, "qty": 2}],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[{"category": "food", "price": 300,  "qty": 12}],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送料無料の境界(10000円ちょうど)を狙って追加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[{"category": "other", "price": 10000, "qty": 1}],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566928" y="3773010"/>
            <a:ext cx="6766560" cy="1345192"/>
          </a:xfrm>
          <a:prstGeom prst="roundRect">
            <a:avLst>
              <a:gd name="adj" fmla="val 4079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768096" y="3883981"/>
            <a:ext cx="6364224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同じバグを、もう一度入れてみる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4339938"/>
            <a:ext cx="6364224" cy="62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At index 423 diff: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  'output': 12530}  !=  'output': 11330}</a:t>
            </a:r>
            <a:endParaRPr lang="en-US" sz="13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failed, 1 skipped in 0.01s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653528" y="1664563"/>
            <a:ext cx="1723644" cy="332913"/>
          </a:xfrm>
          <a:prstGeom prst="roundRect">
            <a:avLst>
              <a:gd name="adj" fmla="val 41200"/>
            </a:avLst>
          </a:prstGeom>
          <a:solidFill>
            <a:srgbClr val="E6F4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7653528" y="1664563"/>
            <a:ext cx="1723644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324 → 432 ケース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7653528" y="2496845"/>
            <a:ext cx="3971239" cy="266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3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境界値 = 条件分岐に出てくる数字そのもの</a:t>
            </a:r>
            <a:endParaRPr lang="en-US" sz="143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コード中の &gt;= や &lt; を grep して、その数字を入力に足す</a:t>
            </a:r>
            <a:endParaRPr lang="en-US" sz="143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ちょうど / 1つ下 / 1つ上 の3点を入れておけば大体足りる</a:t>
            </a:r>
            <a:endParaRPr lang="en-US" sz="143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ここだけは機械任せにできず、人間がコードを読む必要がある</a:t>
            </a:r>
            <a:endParaRPr lang="en-US" sz="143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ゴールデンマスターの注意点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安全網を張る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75534"/>
            <a:ext cx="5323180" cy="1831019"/>
          </a:xfrm>
          <a:prstGeom prst="roundRect">
            <a:avLst>
              <a:gd name="adj" fmla="val 2497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841248" y="2019670"/>
            <a:ext cx="4774540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77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今のバグごと固定される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530136"/>
            <a:ext cx="4774540" cy="94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「正しい動き」ではなく「今の動き」を記録しています。既にバグがあれば、それも正解として保存されます。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6301588" y="1775534"/>
            <a:ext cx="5323180" cy="1831019"/>
          </a:xfrm>
          <a:prstGeom prst="roundRect">
            <a:avLst>
              <a:gd name="adj" fmla="val 2497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6575908" y="2019670"/>
            <a:ext cx="4774540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77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結果が毎回変わる処理は固定が要る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575908" y="2530136"/>
            <a:ext cx="4774540" cy="94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時刻、乱数、DBの中身。そのままだと毎回落ちます。テスト時だけ固定する仕組みが別途必要です。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566928" y="3828495"/>
            <a:ext cx="5323180" cy="1831019"/>
          </a:xfrm>
          <a:prstGeom prst="roundRect">
            <a:avLst>
              <a:gd name="adj" fmla="val 2497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841248" y="4072631"/>
            <a:ext cx="4774540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77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ファイルが大きく、実行が遅くなりがち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583097"/>
            <a:ext cx="4774540" cy="94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ケース数を増やすほど重くなります。数百件で数十KB程度に収まる範囲から始めるのが現実的。</a:t>
            </a:r>
            <a:endParaRPr lang="en-US" sz="1380" dirty="0"/>
          </a:p>
        </p:txBody>
      </p:sp>
      <p:sp>
        <p:nvSpPr>
          <p:cNvPr id="15" name="Shape 13"/>
          <p:cNvSpPr/>
          <p:nvPr/>
        </p:nvSpPr>
        <p:spPr>
          <a:xfrm>
            <a:off x="6301588" y="3828495"/>
            <a:ext cx="5323180" cy="1831019"/>
          </a:xfrm>
          <a:prstGeom prst="roundRect">
            <a:avLst>
              <a:gd name="adj" fmla="val 2497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6575908" y="4072631"/>
            <a:ext cx="4774540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77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役目を終えたら消していい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6575908" y="4583097"/>
            <a:ext cx="4774540" cy="94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リファクタリングが終わり、ユニットテストが揃ったら、この足場は外します。ずっと持ち続けるものではありません。</a:t>
            </a:r>
            <a:endParaRPr lang="en-US" sz="138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047913"/>
            <a:ext cx="11057839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これは「正しさを保証するテスト」ではなく「壊していないことを確認する足場」です。</a:t>
            </a:r>
            <a:endParaRPr lang="en-US" sz="15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969225"/>
            <a:ext cx="786384" cy="7863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841248" y="2969225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1892808" y="2796466"/>
            <a:ext cx="9686239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リファクタリングしてテストを書く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892808" y="3573262"/>
            <a:ext cx="9411919" cy="554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安全網があるので、やっと手を入れられる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リファクタリングの進め方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リファクタリングとテスト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563"/>
            <a:ext cx="3503066" cy="2885243"/>
          </a:xfrm>
          <a:prstGeom prst="roundRect">
            <a:avLst>
              <a:gd name="adj" fmla="val 1585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04672" y="19960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804672" y="199605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52330"/>
            <a:ext cx="3027578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小さく刻む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284738"/>
            <a:ext cx="3027578" cy="122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1回の変更で1つのことだけ。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「値引きの計算を関数に出す」まで。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出したら必ずテストを走らせる。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4344314" y="1664563"/>
            <a:ext cx="3503066" cy="2885243"/>
          </a:xfrm>
          <a:prstGeom prst="roundRect">
            <a:avLst>
              <a:gd name="adj" fmla="val 1585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82058" y="19960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4582058" y="199605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4582058" y="2552330"/>
            <a:ext cx="3027578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振る舞いを変えない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82058" y="3284738"/>
            <a:ext cx="3027578" cy="122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ついでに直したくなるバグや、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気になる書き方は触らない。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別の変更として後で分ける。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121701" y="1664563"/>
            <a:ext cx="3503066" cy="2885243"/>
          </a:xfrm>
          <a:prstGeom prst="roundRect">
            <a:avLst>
              <a:gd name="adj" fmla="val 1585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359445" y="19960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8359445" y="199605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 txBox="1"/>
          <p:nvPr/>
        </p:nvSpPr>
        <p:spPr>
          <a:xfrm>
            <a:off x="8359445" y="2552330"/>
            <a:ext cx="3027578" cy="68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毎回テストを走らせる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8359445" y="3284738"/>
            <a:ext cx="3027578" cy="122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 → 実行 → 緑 を繰り返す。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赤くなったら、直前の変更を</a:t>
            </a:r>
            <a:endParaRPr lang="en-US" sz="13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戻すだけで元に戻れる。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566928" y="4827233"/>
            <a:ext cx="11057839" cy="1220680"/>
          </a:xfrm>
          <a:prstGeom prst="roundRect">
            <a:avLst>
              <a:gd name="adj" fmla="val 3745"/>
            </a:avLst>
          </a:prstGeom>
          <a:solidFill>
            <a:srgbClr val="E6F4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886968" y="4827233"/>
            <a:ext cx="10417759" cy="122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4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コミットも小さく分ける。「関数を1つ切り出した」単位でコミットしておくと、後から戻すのも、レビューしてもらうのも楽になります。</a:t>
            </a:r>
            <a:endParaRPr lang="en-US" sz="15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 / After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リファクタリングとテスト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42621"/>
            <a:ext cx="5323180" cy="38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 ― 1つの関数に全部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1908699"/>
            <a:ext cx="5323180" cy="2354818"/>
          </a:xfrm>
          <a:prstGeom prst="roundRect">
            <a:avLst>
              <a:gd name="adj" fmla="val 2330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768096" y="2109867"/>
            <a:ext cx="4920844" cy="1998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calc_invoice(items, member_rank,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coupon, ship_to, pay_method):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0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it in items: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member_rank == "gold":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= total * 0.90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member_rank == "silver":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60行、分岐18個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int(total)</a:t>
            </a:r>
            <a:endParaRPr lang="en-US" sz="1160" dirty="0"/>
          </a:p>
        </p:txBody>
      </p:sp>
      <p:sp>
        <p:nvSpPr>
          <p:cNvPr id="9" name="Text 7"/>
          <p:cNvSpPr txBox="1"/>
          <p:nvPr/>
        </p:nvSpPr>
        <p:spPr>
          <a:xfrm>
            <a:off x="6301588" y="1442621"/>
            <a:ext cx="5323180" cy="38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After ― 責務ごとに小さく</a:t>
            </a:r>
            <a:endParaRPr lang="en-US" sz="1540" dirty="0"/>
          </a:p>
        </p:txBody>
      </p:sp>
      <p:sp>
        <p:nvSpPr>
          <p:cNvPr id="10" name="Shape 8"/>
          <p:cNvSpPr/>
          <p:nvPr/>
        </p:nvSpPr>
        <p:spPr>
          <a:xfrm>
            <a:off x="6301588" y="1908699"/>
            <a:ext cx="5323180" cy="2354818"/>
          </a:xfrm>
          <a:prstGeom prst="roundRect">
            <a:avLst>
              <a:gd name="adj" fmla="val 2330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6502756" y="2109867"/>
            <a:ext cx="4920844" cy="1998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RANK_DISCOUNT = {"gold": 0.90, "silver": 0.95,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"bronze": 0.98}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apply_rank_discount(amount, member_rank):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amount * RANK_DISCOUNT.get(member_rank, 1.0)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calc_invoice(items, rank, coupon, ship, pay):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amount = subtotal(items)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amount = apply_rank_discount(amount, rank)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amount = apply_coupon(amount, coupon)</a:t>
            </a:r>
            <a:endParaRPr lang="en-US" sz="11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566928" y="5049175"/>
            <a:ext cx="11057839" cy="1120286"/>
          </a:xfrm>
          <a:prstGeom prst="roundRect">
            <a:avLst>
              <a:gd name="adj" fmla="val 4897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768096" y="5160146"/>
            <a:ext cx="10655503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分割後の複雑度チェック / 振る舞いチェック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5616103"/>
            <a:ext cx="10655503" cy="39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ruff check billing.py     →  All checks passed!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pytest -q                 →  1 passed, 1 skipped   （432ケース、値は1円も変わっていない）</a:t>
            </a:r>
            <a:endParaRPr lang="en-US" sz="127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分割したから、テストが書けるようになった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リファクタリングとテスト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553592"/>
            <a:ext cx="6035040" cy="2115062"/>
          </a:xfrm>
          <a:prstGeom prst="roundRect">
            <a:avLst>
              <a:gd name="adj" fmla="val 2594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68096" y="1664563"/>
            <a:ext cx="5632704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test_billing.py ― pytest の最小形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120520"/>
            <a:ext cx="5632704" cy="139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billing import apply_rank_discount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test_gold_rank_gets_10_percent_off():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apply_rank_discount(10000, "gold") == 9000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test_unknown_rank_is_not_discounted():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apply_rank_discount(10000, "none") == 10000</a:t>
            </a:r>
            <a:endParaRPr lang="en-US" sz="1270" dirty="0"/>
          </a:p>
        </p:txBody>
      </p:sp>
      <p:sp>
        <p:nvSpPr>
          <p:cNvPr id="9" name="Text 7"/>
          <p:cNvSpPr txBox="1"/>
          <p:nvPr/>
        </p:nvSpPr>
        <p:spPr>
          <a:xfrm>
            <a:off x="6922008" y="1664563"/>
            <a:ext cx="4702759" cy="3551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9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ルールは2つだけ</a:t>
            </a:r>
            <a:endParaRPr lang="en-US" sz="1490" dirty="0"/>
          </a:p>
          <a:p>
            <a:pPr marL="508000" lvl="1" indent="-254000"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ファイル名を test_ で始める</a:t>
            </a:r>
            <a:endParaRPr lang="en-US" sz="1490" dirty="0"/>
          </a:p>
          <a:p>
            <a:pPr marL="508000" lvl="1" indent="-254000"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関数名を test_ で始める</a:t>
            </a:r>
            <a:endParaRPr lang="en-US" sz="149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確認は assert 1行。専用の記法を覚える必要はありません</a:t>
            </a:r>
            <a:endParaRPr lang="en-US" sz="149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関数名は日本語のつもりで書く。「goldランクは10%引き」がそのまま名前になる</a:t>
            </a:r>
            <a:endParaRPr lang="en-US" sz="149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落ちたとき、関数名がそのままエラーメッセージになります</a:t>
            </a:r>
            <a:endParaRPr lang="en-US" sz="149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437573"/>
            <a:ext cx="11057839" cy="49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さっきの60行の関数には書けなかったテストが、5行の関数には書けます。違いはコードの形だけです。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同じ形のテストは、まとめて書ける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リファクタリングとテスト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553592"/>
            <a:ext cx="6858000" cy="3109838"/>
          </a:xfrm>
          <a:prstGeom prst="roundRect">
            <a:avLst>
              <a:gd name="adj" fmla="val 1764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68096" y="1664563"/>
            <a:ext cx="6455664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test_billing.py ― パラメータ化テスト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120520"/>
            <a:ext cx="6455664" cy="238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@pytest.mark.parametrize(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("amount", "ship_to", "expected"),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(9999,  "normal", 600),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(10000, "normal", 0),      # 境界: ちょうどで無料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(10001, "normal", 0),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(5000,  "remote", 1200),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(5000,  "island", 2000),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0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test_shipping_fee(amount, ship_to, expected):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shipping_fee(amount, ship_to) == expected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7744968" y="1553592"/>
            <a:ext cx="3879799" cy="1319241"/>
          </a:xfrm>
          <a:prstGeom prst="roundRect">
            <a:avLst>
              <a:gd name="adj" fmla="val 4159"/>
            </a:avLst>
          </a:prstGeom>
          <a:solidFill>
            <a:srgbClr val="1E2A3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7946136" y="1664563"/>
            <a:ext cx="3477463" cy="31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実行結果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946136" y="2120520"/>
            <a:ext cx="3477463" cy="59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pytest -q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.............      [100%]</a:t>
            </a:r>
            <a:endParaRPr lang="en-US" sz="12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70" b="1" dirty="0">
                <a:solidFill>
                  <a:srgbClr val="9BE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passed in 0.02s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7744968" y="3329126"/>
            <a:ext cx="738835" cy="332913"/>
          </a:xfrm>
          <a:prstGeom prst="roundRect">
            <a:avLst>
              <a:gd name="adj" fmla="val 41200"/>
            </a:avLst>
          </a:prstGeom>
          <a:solidFill>
            <a:srgbClr val="E6F4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7744968" y="3329126"/>
            <a:ext cx="738835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PASS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7744968" y="3994951"/>
            <a:ext cx="3879799" cy="1886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1つの関数で5ケース。</a:t>
            </a:r>
            <a:endParaRPr lang="en-US" sz="1430" dirty="0"/>
          </a:p>
          <a:p>
            <a:pPr marL="0" indent="0">
              <a:lnSpc>
                <a:spcPct val="125000"/>
              </a:lnSpc>
              <a:buNone/>
            </a:pPr>
            <a:endParaRPr lang="en-US" sz="14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1件ずつ独立して結果が出るので、どの組み合わせで落ちたのかがすぐ分かります。</a:t>
            </a:r>
            <a:endParaRPr lang="en-US" sz="1430" dirty="0"/>
          </a:p>
          <a:p>
            <a:pPr marL="0" indent="0">
              <a:lnSpc>
                <a:spcPct val="125000"/>
              </a:lnSpc>
              <a:buNone/>
            </a:pPr>
            <a:endParaRPr lang="en-US" sz="14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境界値も、ここに1行足すだけ。</a:t>
            </a:r>
            <a:endParaRPr lang="en-US" sz="14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何をテストして、何をしないか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何を書いて、何を書かないか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845"/>
            <a:ext cx="11057839" cy="466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全部書こうとすると挫折します。最初は割り切って構いません。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66928" y="2052961"/>
            <a:ext cx="5323180" cy="3883981"/>
          </a:xfrm>
          <a:prstGeom prst="roundRect">
            <a:avLst>
              <a:gd name="adj" fmla="val 1177"/>
            </a:avLst>
          </a:prstGeom>
          <a:solidFill>
            <a:srgbClr val="E6F4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886968" y="2274903"/>
            <a:ext cx="4683100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まず書く</a:t>
            </a:r>
            <a:endParaRPr lang="en-US" sz="187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829757"/>
            <a:ext cx="4683100" cy="2885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金額・日付・権限が絡む計算</a:t>
            </a:r>
            <a:endParaRPr lang="en-US" sz="149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分岐が多いところ（ruff が指摘した関数）</a:t>
            </a:r>
            <a:endParaRPr lang="en-US" sz="149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一度バグが出た箇所 ― 再発防止として</a:t>
            </a:r>
            <a:endParaRPr lang="en-US" sz="149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仕様が言葉で決まっているところ</a:t>
            </a:r>
            <a:endParaRPr lang="en-US" sz="149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自分が「触るのが怖い」と感じるところ</a:t>
            </a:r>
            <a:endParaRPr lang="en-US" sz="1490" dirty="0"/>
          </a:p>
        </p:txBody>
      </p:sp>
      <p:sp>
        <p:nvSpPr>
          <p:cNvPr id="10" name="Shape 8"/>
          <p:cNvSpPr/>
          <p:nvPr/>
        </p:nvSpPr>
        <p:spPr>
          <a:xfrm>
            <a:off x="6301588" y="2052961"/>
            <a:ext cx="5323180" cy="3883981"/>
          </a:xfrm>
          <a:prstGeom prst="roundRect">
            <a:avLst>
              <a:gd name="adj" fmla="val 1177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6621628" y="2274903"/>
            <a:ext cx="4683100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今は書かなくていい</a:t>
            </a:r>
            <a:endParaRPr lang="en-US" sz="1870" dirty="0"/>
          </a:p>
        </p:txBody>
      </p:sp>
      <p:sp>
        <p:nvSpPr>
          <p:cNvPr id="12" name="Text 10"/>
          <p:cNvSpPr txBox="1"/>
          <p:nvPr/>
        </p:nvSpPr>
        <p:spPr>
          <a:xfrm>
            <a:off x="6621628" y="2829757"/>
            <a:ext cx="4683100" cy="2885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値を出し入れするだけのメソッド</a:t>
            </a:r>
            <a:endParaRPr lang="en-US" sz="149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実装をそのまま書き写しただけのテスト</a:t>
            </a:r>
            <a:endParaRPr lang="en-US" sz="149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外部ライブラリそのものの動作確認</a:t>
            </a:r>
            <a:endParaRPr lang="en-US" sz="149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画面の見た目</a:t>
            </a:r>
            <a:endParaRPr lang="en-US" sz="149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9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すぐ仕様が変わると分かっているところ</a:t>
            </a:r>
            <a:endParaRPr lang="en-US" sz="149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103398"/>
            <a:ext cx="11057839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迷ったら「これが壊れたら誰が困るか」で決める。誰も困らないなら、今は書かなくて大丈夫です。</a:t>
            </a:r>
            <a:endParaRPr lang="en-US" sz="154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" y="688019"/>
            <a:ext cx="10509199" cy="79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35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</a:t>
            </a:r>
            <a:r>
              <a:rPr lang="ja-JP" altLang="en-US" sz="35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 </a:t>
            </a:r>
            <a:r>
              <a:rPr lang="en-US" altLang="ja-JP" sz="35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pytest </a:t>
            </a:r>
            <a:r>
              <a:rPr lang="ja-JP" altLang="en-US" sz="35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は、結局だれのために入れるのか </a:t>
            </a:r>
            <a:endParaRPr lang="en-US" sz="3520" dirty="0"/>
          </a:p>
        </p:txBody>
      </p:sp>
      <p:sp>
        <p:nvSpPr>
          <p:cNvPr id="4" name="Shape 2"/>
          <p:cNvSpPr/>
          <p:nvPr/>
        </p:nvSpPr>
        <p:spPr>
          <a:xfrm>
            <a:off x="841248" y="1750045"/>
            <a:ext cx="5026000" cy="2842457"/>
          </a:xfrm>
          <a:prstGeom prst="roundRect">
            <a:avLst>
              <a:gd name="adj" fmla="val 2043"/>
            </a:avLst>
          </a:prstGeom>
          <a:solidFill>
            <a:srgbClr val="2835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1152144" y="1960890"/>
            <a:ext cx="4404208" cy="35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7FC5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AI エージェントのため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2360385"/>
            <a:ext cx="4404208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自分でミスに気づけるようにする</a:t>
            </a:r>
            <a:endParaRPr lang="en-US" sz="187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2893045"/>
            <a:ext cx="4404208" cy="1442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20" dirty="0">
                <a:solidFill>
                  <a:srgbClr val="A9BA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人間がレビューする前に、エージェント自身が</a:t>
            </a:r>
            <a:endParaRPr lang="en-US" sz="132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20" dirty="0">
                <a:solidFill>
                  <a:srgbClr val="A9BA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check と pytest を回して、赤なら直して</a:t>
            </a:r>
            <a:endParaRPr lang="en-US" sz="132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20" dirty="0">
                <a:solidFill>
                  <a:srgbClr val="A9BA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もう一度試す。</a:t>
            </a:r>
            <a:endParaRPr lang="en-US" sz="1320" dirty="0"/>
          </a:p>
          <a:p>
            <a:pPr marL="0" indent="0">
              <a:lnSpc>
                <a:spcPct val="128000"/>
              </a:lnSpc>
              <a:buNone/>
            </a:pPr>
            <a:endParaRPr lang="en-US" sz="132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20" dirty="0">
                <a:solidFill>
                  <a:srgbClr val="A9BA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合否を機械が判定できる状態になっていれば、</a:t>
            </a:r>
            <a:endParaRPr lang="en-US" sz="132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20" dirty="0">
                <a:solidFill>
                  <a:srgbClr val="A9BA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は人の確認を待たずに自走できます。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324448" y="1750045"/>
            <a:ext cx="5026000" cy="2842457"/>
          </a:xfrm>
          <a:prstGeom prst="roundRect">
            <a:avLst>
              <a:gd name="adj" fmla="val 2043"/>
            </a:avLst>
          </a:prstGeom>
          <a:solidFill>
            <a:srgbClr val="2835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6635344" y="1960890"/>
            <a:ext cx="4404208" cy="35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7FC5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チームのため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6635344" y="2360385"/>
            <a:ext cx="4404208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誰が書いても、同じ基準で判定する</a:t>
            </a:r>
            <a:endParaRPr lang="en-US" sz="1870" dirty="0"/>
          </a:p>
        </p:txBody>
      </p:sp>
      <p:sp>
        <p:nvSpPr>
          <p:cNvPr id="11" name="Text 9"/>
          <p:cNvSpPr txBox="1"/>
          <p:nvPr/>
        </p:nvSpPr>
        <p:spPr>
          <a:xfrm>
            <a:off x="6635344" y="2893045"/>
            <a:ext cx="4404208" cy="1442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20" dirty="0">
                <a:solidFill>
                  <a:srgbClr val="A9BA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人が書いても AI が書いても、通る／落ちるの</a:t>
            </a:r>
            <a:endParaRPr lang="en-US" sz="132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20" dirty="0">
                <a:solidFill>
                  <a:srgbClr val="A9BA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基準は1つ。書いた人によってブレません。</a:t>
            </a:r>
            <a:endParaRPr lang="en-US" sz="1320" dirty="0"/>
          </a:p>
          <a:p>
            <a:pPr marL="0" indent="0">
              <a:lnSpc>
                <a:spcPct val="128000"/>
              </a:lnSpc>
              <a:buNone/>
            </a:pPr>
            <a:endParaRPr lang="en-US" sz="132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20" dirty="0">
                <a:solidFill>
                  <a:srgbClr val="A9BA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レビューで毎回同じ指摘をしなくてよくなり、</a:t>
            </a:r>
            <a:endParaRPr lang="en-US" sz="132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20" dirty="0">
                <a:solidFill>
                  <a:srgbClr val="A9BA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本当に見るべき設計の話に時間を使えます。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41248" y="4855538"/>
            <a:ext cx="10509199" cy="954350"/>
          </a:xfrm>
          <a:prstGeom prst="roundRect">
            <a:avLst>
              <a:gd name="adj" fmla="val 5749"/>
            </a:avLst>
          </a:prstGeom>
          <a:solidFill>
            <a:srgbClr val="2646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61288" y="4855538"/>
            <a:ext cx="9869119" cy="95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0" b="1" dirty="0">
                <a:solidFill>
                  <a:srgbClr val="9BE49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人間のフォーカスは「確かめる作業」から「基準を決めること」へ移ります。</a:t>
            </a:r>
            <a:endParaRPr lang="en-US" sz="187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5943052"/>
            <a:ext cx="10509199" cy="443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8FA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目視の確認は機械と AI に渡す。基準が無いままだと、AI が出したコードを人間が毎回目で追い続けることになります。</a:t>
            </a:r>
            <a:endParaRPr lang="en-US" sz="143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43883"/>
            <a:ext cx="8223199" cy="83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8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明日からの一歩</a:t>
            </a:r>
            <a:endParaRPr lang="en-US" sz="3080" dirty="0"/>
          </a:p>
        </p:txBody>
      </p:sp>
      <p:sp>
        <p:nvSpPr>
          <p:cNvPr id="3" name="Shape 1"/>
          <p:cNvSpPr/>
          <p:nvPr/>
        </p:nvSpPr>
        <p:spPr>
          <a:xfrm>
            <a:off x="8927287" y="49537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927287" y="49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210" dirty="0"/>
          </a:p>
        </p:txBody>
      </p:sp>
      <p:sp>
        <p:nvSpPr>
          <p:cNvPr id="5" name="Text 3"/>
          <p:cNvSpPr txBox="1"/>
          <p:nvPr/>
        </p:nvSpPr>
        <p:spPr>
          <a:xfrm>
            <a:off x="9293047" y="466078"/>
            <a:ext cx="2331720" cy="33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明日からの一歩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563"/>
            <a:ext cx="11057839" cy="1886505"/>
          </a:xfrm>
          <a:prstGeom prst="roundRect">
            <a:avLst>
              <a:gd name="adj" fmla="val 2908"/>
            </a:avLst>
          </a:prstGeom>
          <a:solidFill>
            <a:srgbClr val="E6F4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069848" y="1908699"/>
            <a:ext cx="10051999" cy="61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次にバグを直すとき、直す前に、</a:t>
            </a:r>
            <a:endParaRPr lang="en-US" sz="264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2574524"/>
            <a:ext cx="10051999" cy="665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4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そのバグを再現するテストを1本だけ書く</a:t>
            </a:r>
            <a:endParaRPr lang="en-US" sz="264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883981"/>
            <a:ext cx="5323180" cy="38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これだけで十分な理由</a:t>
            </a:r>
            <a:endParaRPr lang="en-US" sz="154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350058"/>
            <a:ext cx="5323180" cy="1886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書く理由がはっきりしている（目の前に落ちる例がある）</a:t>
            </a:r>
            <a:endParaRPr lang="en-US" sz="14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最初は赤。直すと緑になるので、達成感がある</a:t>
            </a:r>
            <a:endParaRPr lang="en-US" sz="14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同じバグの再発を、そのまま防げる</a:t>
            </a:r>
            <a:endParaRPr lang="en-US" sz="14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1本書ければ、2本目のハードルは一気に下がる</a:t>
            </a:r>
            <a:endParaRPr lang="en-US" sz="1430" dirty="0"/>
          </a:p>
        </p:txBody>
      </p:sp>
      <p:sp>
        <p:nvSpPr>
          <p:cNvPr id="11" name="Text 9"/>
          <p:cNvSpPr txBox="1"/>
          <p:nvPr/>
        </p:nvSpPr>
        <p:spPr>
          <a:xfrm>
            <a:off x="6301588" y="3883981"/>
            <a:ext cx="5323180" cy="38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詰まったら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6301588" y="4350058"/>
            <a:ext cx="5323180" cy="1886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「テストが書けない形」だった可能性が高いです</a:t>
            </a:r>
            <a:endParaRPr lang="en-US" sz="14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そこが今日話した、リファクタリングの入口</a:t>
            </a:r>
            <a:endParaRPr lang="en-US" sz="14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一人で抱えず声をかけてください。一緒に見ます</a:t>
            </a:r>
            <a:endParaRPr lang="en-US" sz="14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既存コードへの入れ方も、相談してもらえれば</a:t>
            </a:r>
            <a:endParaRPr lang="en-US" sz="143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" y="943252"/>
            <a:ext cx="11057839" cy="665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841248" y="207702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41248" y="20770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2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1997476"/>
            <a:ext cx="6035040" cy="48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テストが書けないコードには、書けない理由がある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7470648" y="1997476"/>
            <a:ext cx="4154119" cy="48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根性ではなく、コードの形の問題として扱う</a:t>
            </a:r>
            <a:endParaRPr lang="en-US" sz="1380" dirty="0"/>
          </a:p>
        </p:txBody>
      </p:sp>
      <p:sp>
        <p:nvSpPr>
          <p:cNvPr id="7" name="Shape 5"/>
          <p:cNvSpPr/>
          <p:nvPr/>
        </p:nvSpPr>
        <p:spPr>
          <a:xfrm>
            <a:off x="841248" y="283162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841248" y="28316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752078"/>
            <a:ext cx="6035040" cy="48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静的チェックが、その理由を機械的に教えてくれる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7470648" y="2752078"/>
            <a:ext cx="4154119" cy="48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ruff の複雑度ルールは、必要なテスト本数の見積もりでもある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841248" y="358622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841248" y="3586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1344168" y="3506680"/>
            <a:ext cx="6035040" cy="48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テストがなくても、安全網は先に張れる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7470648" y="3506680"/>
            <a:ext cx="4154119" cy="48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ゴールデンマスターで今の振る舞いを固定してから、直す</a:t>
            </a:r>
            <a:endParaRPr lang="en-US" sz="1380" dirty="0"/>
          </a:p>
        </p:txBody>
      </p:sp>
      <p:sp>
        <p:nvSpPr>
          <p:cNvPr id="15" name="Shape 13"/>
          <p:cNvSpPr/>
          <p:nvPr/>
        </p:nvSpPr>
        <p:spPr>
          <a:xfrm>
            <a:off x="841248" y="4340825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841248" y="43408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1344168" y="4261282"/>
            <a:ext cx="6035040" cy="48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ただし、網の外は素通りする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7470648" y="4261282"/>
            <a:ext cx="4154119" cy="48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境界値だけは、コードを読んで自分で足す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841248" y="509542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841248" y="509542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1344168" y="5015883"/>
            <a:ext cx="6035040" cy="48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分割できれば、テストは書ける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7470648" y="5015883"/>
            <a:ext cx="4154119" cy="48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9DB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最初の1本は、次に直すバグの再現テストから</a:t>
            </a:r>
            <a:endParaRPr lang="en-US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6214369"/>
            <a:ext cx="11057839" cy="554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80" b="1" dirty="0">
                <a:solidFill>
                  <a:srgbClr val="7FC5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ご清聴ありがとうございました　― 質問をどうぞ</a:t>
            </a:r>
            <a:endParaRPr lang="en-US" sz="1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3372</Words>
  <Application>Microsoft Office PowerPoint</Application>
  <PresentationFormat>ワイド画面</PresentationFormat>
  <Paragraphs>701</Paragraphs>
  <Slides>38</Slides>
  <Notes>38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38</vt:i4>
      </vt:variant>
    </vt:vector>
  </HeadingPairs>
  <TitlesOfParts>
    <vt:vector size="42" baseType="lpstr">
      <vt:lpstr>Meiryo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赤田 将伸</cp:lastModifiedBy>
  <cp:revision>2</cp:revision>
  <dcterms:created xsi:type="dcterms:W3CDTF">2026-09-17T07:34:04Z</dcterms:created>
  <dcterms:modified xsi:type="dcterms:W3CDTF">2026-09-17T07:37:40Z</dcterms:modified>
</cp:coreProperties>
</file>