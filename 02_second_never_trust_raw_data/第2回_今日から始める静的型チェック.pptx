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第2回です。前回と同じく、手を動かす演習はありません。画面で実物を見せながら進めます。</a:t>
            </a:r>
          </a:p>
          <a:p>
            <a:r>
              <a:t>題材は前回と同じ請求計算のコード。前回出ていない人でも分かるように作ってあります。</a:t>
            </a:r>
          </a:p>
          <a:p>
            <a:r>
              <a:t>ゴールは『明日、新しく書く関数1本に型を書いてみよう』と思ってもらうこと。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4章が今日の中心です。ここだけ持って帰ってもらえれば成功。</a:t>
            </a:r>
          </a:p>
          <a:p>
            <a:r>
              <a:t>2章と3章はセットで、『Pyreflyを入れた → でも守れない場所がある』という流れです。</a:t>
            </a:r>
          </a:p>
          <a:p>
            <a:r>
              <a:t>演習はないので、気になったところは遠慮なく途中で止めてください。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ここは共感を取るパート。手を挙げてもらうと場が温まる。</a:t>
            </a:r>
          </a:p>
          <a:p>
            <a:r>
              <a:t>『型は面倒』という前提を、先に一度肯定してから入る。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『1つでも当てはまる人？』と手を挙げてもらってもいい。</a:t>
            </a:r>
          </a:p>
          <a:p>
            <a:r>
              <a:t>3つとも『書いていないから分からない』に還元できる、という振りをしてから次へ。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前回参加していない人のために、第1回の結論だけ1行で言う：</a:t>
            </a:r>
          </a:p>
          <a:p>
            <a:r>
              <a:t>『テストが書けないコードには、書けない理由がある。その理由は静的チェックが教えてくれる』。</a:t>
            </a:r>
          </a:p>
          <a:p>
            <a:r>
              <a:t>今日はその静的チェックの残り半分。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ここが今日いちばん伝えたいこと。</a:t>
            </a:r>
          </a:p>
          <a:p>
            <a:r>
              <a:t>『型を書くと安全になる』という曖昧な話ではなく、『気づく時刻が前倒しになる』という話にする。</a:t>
            </a:r>
          </a:p>
          <a:p>
            <a:r>
              <a:t>バグの修正コストは、見つかるのが遅いほど上がる。本番で見つかるのが一番高い。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この図を各章の頭で口頭で参照する。『今は内側の話です』『ここから境界の話です』。</a:t>
            </a:r>
          </a:p>
          <a:p>
            <a:r>
              <a:t>門が1枚しかない、というのが大事。入口をあちこちに作らない。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デモあり。実際にターミナルを叩く。</a:t>
            </a:r>
          </a:p>
          <a:p>
            <a:r>
              <a:t>『また新しいツールか』と身構えられるので、入れるのが1分で終わることを先に見せる。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2番目が効く。『既存のコードを壊さないのか』という不安を、ここで先に消す。</a:t>
            </a:r>
          </a:p>
          <a:p>
            <a:r>
              <a:t>型注釈はコメントと同じで、Python から見れば飾り。読むのは型チェッカとエディタと人間だけ。</a:t>
            </a:r>
          </a:p>
          <a:p>
            <a:r>
              <a:t>Rust 製で速い、という話もできるが、売りはそこではなくエラーの読みやすさだと言い切ってよい。</a:t>
            </a:r>
          </a:p>
          <a:p>
            <a:r>
              <a:t>※ なぜ mypy ではないのか、という質問が出たら『36ページで話します』と一度預ける。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デモ①: 実際に pip install から pyrefly check まで打って見せる。</a:t>
            </a:r>
          </a:p>
          <a:p>
            <a:r>
              <a:t>『環境構築が大変そう』という先入観をここで潰す。1コマンドで入って、設定なしでも動く。</a:t>
            </a:r>
          </a:p>
          <a:p>
            <a:r>
              <a:t>参考値（手元の実測・300ファイル / 22,500行）: pyrefly 0.36秒。キャッシュのディレクトリも作らない。</a:t>
            </a:r>
          </a:p>
          <a:p>
            <a:r>
              <a:t>※ この数字は本番前に自分の環境で計り直して差し替えること。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『全部の変数に型を書くのか』という誤解をここで消す。書くのは関数の境界だけ。</a:t>
            </a:r>
          </a:p>
          <a:p>
            <a:r>
              <a:t>| None は Python 3.10 以降の書き方。3.9 以前なら Optional[float]。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デモ②: 実際に走らせて 0 errors を見せる。</a:t>
            </a:r>
          </a:p>
          <a:p>
            <a:r>
              <a:t>ここが型チェッカ最大の落とし穴。『動いた、問題なし』ではなく『何も検査していない』。</a:t>
            </a:r>
          </a:p>
          <a:p>
            <a:r>
              <a:t>前回の ruff と正反対なので、対比で話すと伝わる。</a:t>
            </a:r>
          </a:p>
          <a:p>
            <a:r>
              <a:t>※ 厳しくする設定を入れても、この例は 0 件のままです（実測確認済み）。「設定が緩いから」ではなく「材料がないから」だと説明する。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デモ③: 注釈を足して再実行し、赤が出る瞬間を見せる。</a:t>
            </a:r>
          </a:p>
          <a:p>
            <a:r>
              <a:t>下線で『この式のこの部分』と指してくれるので、画面を指さす必要がない。ここは見せ場。</a:t>
            </a:r>
          </a:p>
          <a:p>
            <a:r>
              <a:t>『動いているコードにバグがある』を実物で見せるのが目的。</a:t>
            </a:r>
          </a:p>
          <a:p>
            <a:r>
              <a:t>実際、社内のコードで .get() の戻り値をそのまま使っている箇所は多いはず。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3番目が中堅に刺さる。『あのとき直し漏れた画面』の話をすると早い。</a:t>
            </a:r>
          </a:p>
          <a:p>
            <a:r>
              <a:t>grep で探していた修正漏れが、機械的に列挙される。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3番目を最初に入れてしまうのが典型的な失敗。既存の全関数がエラーになって、誰も見なくなる。</a:t>
            </a:r>
          </a:p>
          <a:p>
            <a:r>
              <a:t>既定のままでも十分使えるので、preset を触るのは後回しでいい。</a:t>
            </a:r>
          </a:p>
          <a:p>
            <a:r>
              <a:t>ファイル単位・ディレクトリ単位で設定を分けられる、という話は聞かれたらする。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ここが今日の折り返し。前半で持ち上げた型チェッカを、自分で一度落とす。</a:t>
            </a:r>
          </a:p>
          <a:p>
            <a:r>
              <a:t>前回のゴールデンマスターと同じで、限界を先に言うほうが信用される。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デモ④: エラーを出したあと、そのまま python で実行して動くところを見せる。</a:t>
            </a:r>
          </a:p>
          <a:p>
            <a:r>
              <a:t>『型を書いたから安全』ではない、を体で分かってもらう。</a:t>
            </a:r>
          </a:p>
          <a:p>
            <a:r>
              <a:t>次のページへの振り: 自分のコードなら約束は守れる。外から来るデータは約束できない。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デモ⑤: reveal_type() を仕込んで Unknown と表示させる。チェッカが自分から『分かりません』と言うのが効く。</a:t>
            </a:r>
          </a:p>
          <a:p>
            <a:r>
              <a:t>Unknown は「暗黙の Any」の表示名。Any という言葉を知っている人には、そう補足すればよい。</a:t>
            </a:r>
          </a:p>
          <a:p>
            <a:r>
              <a:t>reveal_type は typing から import する。実行しても邪魔にならない。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デモ⑥: その場で実行して '15001500' を出す。今日いちばん怖い画面。</a:t>
            </a:r>
          </a:p>
          <a:p>
            <a:r>
              <a:t>テストがあっても、ゴールデンマスターがあっても、入力が想定内なら通ってしまう。</a:t>
            </a:r>
          </a:p>
          <a:p>
            <a:r>
              <a:t>『だから入口に門を立てる』へ繋ぐ。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デモあり。ここが今日の山場。</a:t>
            </a:r>
          </a:p>
          <a:p>
            <a:r>
              <a:t>pydantic を『便利なデータクラス』として教えない。『境界の門』として教える。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4番目のバージョンの話は重要。ネットの記事は v1 と v2 が混在していて、書き方が違う。</a:t>
            </a:r>
          </a:p>
          <a:p>
            <a:r>
              <a:t>『検索して出てきたコードが動かない』の原因はだいたいこれ。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『クラスを増やすのは大げさでは』と言われたら、コメントとの比較で返す。</a:t>
            </a:r>
          </a:p>
          <a:p>
            <a:r>
              <a:t>どうせ想定は頭の中かコメントにある。それを機械が読める場所に移すだけ。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デモ⑦: 19ページの壊れた入力を、そのまま pydantic 経由で通して 3000 を出す。</a:t>
            </a:r>
          </a:p>
          <a:p>
            <a:r>
              <a:t>『同じデータ、同じ計算、結果が違う』という見せ方をする。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デモ⑧: 壊した JSON を渡して、このエラーをその場で出す。</a:t>
            </a:r>
          </a:p>
          <a:p>
            <a:r>
              <a:t>『1件直して再実行、また1件』にならないのが地味に効く。取引先に返す不備連絡がそのまま書ける。</a:t>
            </a:r>
          </a:p>
          <a:p>
            <a:r>
              <a:t>items.0.price のように、どの要素のどのキーかまで出る。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のコードは、社内の実コードに近い形を選ぶと刺さる。</a:t>
            </a:r>
          </a:p>
          <a:p>
            <a:r>
              <a:t>『この if、3ファイルに同じものがありますよね』と言えると強い。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ここが今日いちばん言いたいこと。この1枚が効けば、今日は成功。</a:t>
            </a:r>
          </a:p>
          <a:p>
            <a:r>
              <a:t>2章と4章が、ここで1本に繋がる。3章の Unknown が、モデルによって具体的な型に変わったから。</a:t>
            </a:r>
          </a:p>
          <a:p>
            <a:r>
              <a:t>『もしかして price?』まで出るのは、Pyrefly が pydantic のモデルを理解しているから。</a:t>
            </a:r>
          </a:p>
          <a:p>
            <a:r>
              <a:t>エディタの補完が効くようになるのも、同じ理由。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デモ⑨: append が通ってしまうところを実行して見せ、そのまま pyrefly にかけて赤を出す。</a:t>
            </a:r>
          </a:p>
          <a:p>
            <a:r>
              <a:t>門は『通るとき』しか見張っていない。通ったあとに窓から投げ込める、という言い方が伝わりやすい。</a:t>
            </a:r>
          </a:p>
          <a:p>
            <a:r>
              <a:t>既定では o.items = [...] の再代入も検証されません。validate_assignment=True を付ければ再代入は止まりますが、append は止まりません（リストの中身の変更は pydantic から見えないため）。実測で確認済み。</a:t>
            </a:r>
          </a:p>
          <a:p>
            <a:r>
              <a:t>そのまま model_dump() すると警告は出ますが、処理は止まらず壊れたデータが出ていきます。</a:t>
            </a:r>
          </a:p>
          <a:p>
            <a:r>
              <a:t>この1枚で、26ページと合わせて『2つの道具が別々の穴を塞いでいる』が完成する。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受講者の頭にある「じゃあ中間処理の前に一回検証したいときは？」に答えるページ。</a:t>
            </a:r>
          </a:p>
          <a:p>
            <a:r>
              <a:t>答えは『検証するな』ではなく『その段階のモデルを作れ』。段階の数だけモデルがあっていい。</a:t>
            </a:r>
          </a:p>
          <a:p/>
          <a:p>
            <a:r>
              <a:t>コストは心配ないと言ってよい（実測）：入口の model_validate が 1721ns、次の段のモデルを作るのは 1086ns。既存オブジェクトをそのまま渡せば中は再パースされない。</a:t>
            </a:r>
          </a:p>
          <a:p>
            <a:r>
              <a:t>ただし model_dump() で dict に戻してから渡すと 3379ns と倍かかる。オブジェクトのまま渡す。</a:t>
            </a:r>
          </a:p>
          <a:p/>
          <a:p>
            <a:r>
              <a:t>聞かれたら答える範囲：</a:t>
            </a:r>
          </a:p>
          <a:p>
            <a:r>
              <a:t>・model_copy(update=...) は検証しません。値の差し替えに使わないこと。</a:t>
            </a:r>
          </a:p>
          <a:p>
            <a:r>
              <a:t>・再パースしない裏返しで、前の段で書き換えられた値は後段も素通りします。</a:t>
            </a:r>
          </a:p>
          <a:p>
            <a:r>
              <a:t>  塞ぐなら内側のモデルに revalidate_instances="always"（外側の器に付けても効かない）。</a:t>
            </a:r>
          </a:p>
          <a:p>
            <a:r>
              <a:t>  ただしコストは100件で 2.5→49マイクロ秒と20倍。全体に付けるものではない。</a:t>
            </a:r>
          </a:p>
          <a:p>
            <a:r>
              <a:t>・frozen=True は属性への代入を止めますが、append は止まりません。tuple と併用して初めて閉じます。</a:t>
            </a:r>
          </a:p>
          <a:p/>
          <a:p>
            <a:r>
              <a:t>※ ここで必ず一度言うこと：段階を分けるという考え方自体は pydantic とは無関係です。</a:t>
            </a:r>
          </a:p>
          <a:p>
            <a:r>
              <a:t>  dataclass でも、ただのクラスでも同じことができます。設計の話であって、ライブラリの機能ではない。</a:t>
            </a:r>
          </a:p>
          <a:p>
            <a:r>
              <a:t>  今日 pydantic で書いているのは、OrderIn が「外から届いた」段階だからで、内側だけで完結する段階なら dataclass で十分です（33ページの『全部をモデルにしない』と同じ話）。</a:t>
            </a:r>
          </a:p>
          <a:p>
            <a:r>
              <a:t>  tuple の話はコード中のコメントに移しました。口頭で一度触れてください。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『どこにも仕様書がない』問題への回答でもある。会員ランクの定義が、コードに1行で書いてある。</a:t>
            </a:r>
          </a:p>
          <a:p>
            <a:r>
              <a:t>文字列を直接書き回している箇所を Literal に変えるだけで、タイプミスが全部消える。</a:t>
            </a:r>
          </a:p>
          <a:p>
            <a:r>
              <a:t>Enum でも同じことができる、という話は聞かれたらする。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第3回の予告。DI の話をここで1行だけ出しておくと、次回の集客になる。</a:t>
            </a:r>
          </a:p>
          <a:p>
            <a:r>
              <a:t>3回で1セット、という見取り図を示すと、受講者が今の位置を把握できる。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前回のゴールデンマスターと同じ構造。限界を自分で言うかどうかで、講習の信頼度が変わる。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の話は正直に。私も付けっぱなしのものがある、と言ってよい。</a:t>
            </a:r>
          </a:p>
          <a:p>
            <a:r>
              <a:t>完璧に運用しようとして止まるより、6割で回すほうがいい。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3番目は、金額を扱うコードでは実際に事故る。'1,500' はエラーになるが '1500' は通る、など。</a:t>
            </a:r>
          </a:p>
          <a:p>
            <a:r>
              <a:t>strict を使うかどうかは、外から来るデータの素性による。取引先のJSONなら緩い方が実用的。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前回の『何をテストして、何をしないか』と同じ役割のページ。</a:t>
            </a:r>
          </a:p>
          <a:p>
            <a:r>
              <a:t>『全部につけなくていい』という許可を出すのがこの章の目的。カバレッジ100%の話はしない。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ここは自分の意見として話す。『こう思っています』と主語を自分にする。</a:t>
            </a:r>
          </a:p>
          <a:p>
            <a:r>
              <a:t>前回36ページの『ruff と pytest は誰のために入れるのか』の続き。</a:t>
            </a:r>
          </a:p>
          <a:p>
            <a:r>
              <a:t>Codex を使っている人には『型のない関数を直させて、想定と違うコードが出てきたことは？』と振ると早い。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質問対策のページ。『なぜ mypy じゃないのか』は必ず出るので、ここで正面から答える。</a:t>
            </a:r>
          </a:p>
          <a:p>
            <a:r>
              <a:t>答えは2つ：エラーの読みやすさと、pydantic を最初から理解すること。今日の題材との相性。</a:t>
            </a:r>
          </a:p>
          <a:p>
            <a:r>
              <a:t>正直に言っておくべきこと：検索したときにヒットするのは今も mypy の記事のほうが多い。</a:t>
            </a:r>
          </a:p>
          <a:p>
            <a:r>
              <a:t>だから最後の1行が効く。型注釈は標準仕様なので、詰まったら mypy に戻れるし、pyrefly init は逆方向の設定も読める。どちらを選んでも、書いた型は残る。</a:t>
            </a:r>
          </a:p>
          <a:p>
            <a:r>
              <a:t>抑制コメントも # type: ignore がそのまま使えるので、コード側の手戻りもありません。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持ち帰りは1つだけに絞る。あれもこれも言うと何も残らない。</a:t>
            </a:r>
          </a:p>
          <a:p>
            <a:r>
              <a:t>※ 相談先として自分の名前・連絡手段をここで明示する。ここが実際の導入率を左右します。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質問が出なければ『今いちばん、何が入ってくるか分からないデータはどれですか』と振ると話が始まります。</a:t>
            </a:r>
          </a:p>
          <a:p>
            <a:r>
              <a:t>次回予告：時刻・DB・外部システムをどう切り離すか（DI）。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227685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今日から始める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136392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静的型チェック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215384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6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― 動的型の言語に、なぜ型を持ち込むのか 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92040"/>
            <a:ext cx="110550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第2回 / Pyrefly と pydantic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今日の流れ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4996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4996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なぜ型を書くのか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1854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854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53728" y="2276856"/>
            <a:ext cx="1645920" cy="393192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53728" y="227685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デモ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712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712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Pyrefly が守れない場所がある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3728" y="2962656"/>
            <a:ext cx="1645920" cy="393192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53728" y="296265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デモ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11296"/>
            <a:ext cx="11274552" cy="621792"/>
          </a:xfrm>
          <a:prstGeom prst="roundRect">
            <a:avLst>
              <a:gd name="adj" fmla="val 7352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8" y="35570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5570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pydantic で境界を守る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53728" y="3648456"/>
            <a:ext cx="1645920" cy="3931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53728" y="3648456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今日の山場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428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2428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限界と注意点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9286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9286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何につけて、誰のために書くのか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614416"/>
            <a:ext cx="36576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5614416"/>
            <a:ext cx="804672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明日からの一歩 /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なぜ型を書くのか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動的型の言語に、あえて型を持ち込む理由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心当たり、ありませんか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なぜ型を書くのか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502152" cy="3328416"/>
          </a:xfrm>
          <a:prstGeom prst="roundRect">
            <a:avLst>
              <a:gd name="adj" fmla="val 1373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この関数に何を渡せばいいのか、分からない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18104"/>
            <a:ext cx="3026664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引数名は items。中に何のキーが入るのかは、実装を読むか、動かしてみるまで分からない。
呼ぶたびに、定義まで読みに行っている。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64208"/>
            <a:ext cx="3502152" cy="3328416"/>
          </a:xfrm>
          <a:prstGeom prst="roundRect">
            <a:avLst>
              <a:gd name="adj" fmla="val 1373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本番で初めて落ちる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118104"/>
            <a:ext cx="3026664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None が来るとは思っていなかった。テストも通っていた。落ちたのは金曜の夕方だった。
書いた時点では、誰にも見えていなかった。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64208"/>
            <a:ext cx="3502152" cy="3328416"/>
          </a:xfrm>
          <a:prstGeom prst="roundRect">
            <a:avLst>
              <a:gd name="adj" fmla="val 1373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外から来たデータを、その場その場で確かめている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18104"/>
            <a:ext cx="3026664" cy="1636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キーがあるか確認し、int() で囲み、try で包む。同じ確認が、あちこちに散らばっている。
どこまで確認済みなのか、もう分からない。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95544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3つとも「その値が何なのか、どこにも書いていない」ことから来ています。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前回、宿題を2つ残しています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なぜ型を書くのか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第1回「テストコードの作成と静的チェックのススメ」の続きです。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20"/>
            <a:ext cx="5321808" cy="2468880"/>
          </a:xfrm>
          <a:prstGeom prst="roundRect">
            <a:avLst>
              <a:gd name="adj" fmla="val 1851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41248" y="2148840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06624"/>
            <a:ext cx="47731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3つ目の道具を、まだ使っていない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64992"/>
            <a:ext cx="477316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前回「静的チェックには フォーマッタ / リンタ / 型チェッカ の3つがある」と話して、ruff（前の2つ）だけで終わりました。3つ目が型チェッカ ― 今日は Pyrefly を使います。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1874520"/>
            <a:ext cx="5321808" cy="2468880"/>
          </a:xfrm>
          <a:prstGeom prst="roundRect">
            <a:avLst>
              <a:gd name="adj" fmla="val 1851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74536" y="2148840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74536" y="21488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706624"/>
            <a:ext cx="47731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ゴールデンマスターの入力が dict のまま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3364992"/>
            <a:ext cx="477316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前回のテストは 324 ケースを守りましたが、その1件1件が何なのかは、生の dict を読んで推測するしかありませんでした。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26280"/>
            <a:ext cx="11055096" cy="1143000"/>
          </a:xfrm>
          <a:prstGeom prst="roundRect">
            <a:avLst>
              <a:gd name="adj" fmla="val 400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68096" y="463600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前回のコードから（この dict の中身は、どこにも書かれていない）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983480"/>
            <a:ext cx="1065276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[{"category": "book", "price": 1500, "qty": 2}],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[{"category": "food", "price": 300,  "qty": 12}],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   # price が文字列で来たら？ qty が 0 だったら？ → 誰も止めない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今日はこの2つを回収します。題材も前回と同じ、請求計算のコードです。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今日の結論を先に言います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なぜ型を書くのか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55096" cy="1783080"/>
          </a:xfrm>
          <a:prstGeom prst="roundRect">
            <a:avLst>
              <a:gd name="adj" fmla="val 256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1014069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6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動的型は、間違いに気づく時刻を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15184"/>
            <a:ext cx="1014069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6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「実行時」</a:t>
            </a:r>
            <a:r>
              <a:rPr sz="286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まで先送りする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13632"/>
            <a:ext cx="110550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6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静的型は、その締め切りを「書いた瞬間」に引き戻す ― これが Pyrefly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6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ただし1か所だけ、引き戻せない場所がある。外から入ってくるデータ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76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そこは実行時に検査するしかない ― これが pydantic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内側は Pyrefly、境界は pydantic。道具は2つですが、やっていることは1つです。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今日の地図 ― 境界と内側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なぜ型を書くのか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今どちらの話をしているのか分からなくなったら、この1枚に戻ってください。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246120" cy="2971800"/>
          </a:xfrm>
          <a:prstGeom prst="roundRect">
            <a:avLst>
              <a:gd name="adj" fmla="val 153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27340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外の世界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34056" cy="1801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JSON / CSV / Web API
設定ファイル / ユーザー入力
Excel / 他システムの出力
型が何であるかの保証は、いっさいない。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2103120"/>
            <a:ext cx="1874520" cy="2971800"/>
          </a:xfrm>
          <a:prstGeom prst="roundRect">
            <a:avLst>
              <a:gd name="adj" fmla="val 2439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33088" y="2377440"/>
            <a:ext cx="16916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3246120"/>
            <a:ext cx="169164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1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実行時に検査し</a:t>
            </a:r>
          </a:p>
          <a:p>
            <a:pPr algn="ctr">
              <a:lnSpc>
                <a:spcPct val="135000"/>
              </a:lnSpc>
            </a:pPr>
            <a:r>
              <a:rPr sz="121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型のついた値に</a:t>
            </a:r>
          </a:p>
          <a:p>
            <a:pPr algn="ctr">
              <a:lnSpc>
                <a:spcPct val="135000"/>
              </a:lnSpc>
            </a:pPr>
            <a:r>
              <a:rPr sz="121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変える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5138928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03120"/>
            <a:ext cx="5477256" cy="2971800"/>
          </a:xfrm>
          <a:prstGeom prst="roundRect">
            <a:avLst>
              <a:gd name="adj" fmla="val 153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088" y="2377440"/>
            <a:ext cx="492861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内側 ― 自分のコード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35808"/>
            <a:ext cx="4928616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ここから先は、値の型が分かっている。
Pyrefly が、実行せずに読んで、型の食い違いを指摘する。
エディタの補完も、定義ジャンプも効く。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389120"/>
            <a:ext cx="492861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Pyrefly</a:t>
            </a:r>
            <a:r>
              <a:rPr sz="1540" b="1">
                <a:solidFill>
                  <a:srgbClr val="5B6770"/>
                </a:solidFill>
                <a:latin typeface="Meiryo"/>
                <a:ea typeface="Meiryo"/>
                <a:cs typeface="Meiryo"/>
              </a:rPr>
              <a:t>：動かさずに検査する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429000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0">
                <a:solidFill>
                  <a:srgbClr val="2E7D32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429000"/>
            <a:ext cx="228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0">
                <a:solidFill>
                  <a:srgbClr val="2E7D32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門を通っていないデータが内側に入ると、Pyrefly は何も言えなくなります。それが3章の話です。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書くのは、引数と戻り値の型だけ。それ以外はいりません。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Pyrefly ってなに？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読みは「パイリフライ」。Meta 製の型チェッカで、型注釈を読んで、動かさずに食い違いを指摘します。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0552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35000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実行しないので、安全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DBにも本番にも触りません。コードを読むだけ。だから、こわごわ実行する必要がない。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2130552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74536" y="235000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型注釈は、実行時には効かない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816352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Python 本体は型注釈を見ていません。付けても動作は1ミリも変わらない。だから、動いている既存コードに安全に足せます。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05656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325112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エラーの出方が親切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91456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どの式のどこが問題かに下線を引き、打ち間違いには「もしかして price?」まで出します。今日はこれを何度も見ます。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4105656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74536" y="4325112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pydantic を最初から理解する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4791456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別途プラグインを入れなくても、モデルの属性や引数をそのまま検査します。今日の題材との相性で、これを選びました。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236208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今日覚えて帰るコマンドは pyrefly check の1つだけです。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Pyrefly を入れる ― かかる時間は1分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486400" cy="1764792"/>
          </a:xfrm>
          <a:prstGeom prst="roundRect">
            <a:avLst>
              <a:gd name="adj" fmla="val 259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773936"/>
            <a:ext cx="508406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21408"/>
            <a:ext cx="5084064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pip install pyrefly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         # 全部見る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billing.py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# 1ファイル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664208"/>
            <a:ext cx="5248656" cy="1764792"/>
          </a:xfrm>
          <a:prstGeom prst="roundRect">
            <a:avLst>
              <a:gd name="adj" fmla="val 259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74536" y="177393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pyproject.toml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536" y="2121408"/>
            <a:ext cx="4846320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[tool.pyrefly]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python-version = "3.11"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project-includes = ["**/*.py"]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最初はこれだけ。strict はまだ入れない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86200"/>
            <a:ext cx="11055096" cy="1883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4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前回の ruff と同じく、設定は pyproject.toml に書けます。設定ファイルは増えません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4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VS Code 拡張（Pyrefly）を入れると、保存したその場で波線が出ます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4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CI に入れるのは最後でいい。まず手元で走る状態を作る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型注釈の書き方は、これだけ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覚える記法は3つです。クラスも Generics も、今日は出てきません。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1055096" cy="2148840"/>
          </a:xfrm>
          <a:prstGeom prst="roundRect">
            <a:avLst>
              <a:gd name="adj" fmla="val 2127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756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billing.py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1065276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apply_rank_discount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(amount: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rank: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amount * RANK_DISCOUNT.get(rank, 1.0)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find_coupon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(code: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float | None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 # None が返ることがある、と宣言する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COUPONS.get(code)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43400"/>
            <a:ext cx="3502152" cy="1234440"/>
          </a:xfrm>
          <a:prstGeom prst="roundRect">
            <a:avLst>
              <a:gd name="adj" fmla="val 3703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4562856"/>
            <a:ext cx="30266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引数は  : 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010912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名前の後ろにコロン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343400"/>
            <a:ext cx="3502152" cy="1234440"/>
          </a:xfrm>
          <a:prstGeom prst="roundRect">
            <a:avLst>
              <a:gd name="adj" fmla="val 3703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81144" y="4562856"/>
            <a:ext cx="30266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戻り値は  -&gt; 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5010912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閉じ括弧の後ろに矢印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4343400"/>
            <a:ext cx="3502152" cy="1234440"/>
          </a:xfrm>
          <a:prstGeom prst="roundRect">
            <a:avLst>
              <a:gd name="adj" fmla="val 3703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57616" y="4562856"/>
            <a:ext cx="30266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| None が最重要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5010912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「無いこともある」を型で言う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関数の中の変数には、基本つけなくて構いません。書くのは入口と出口だけです。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デモ：入れた直後は、何も言いません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前回の ruff は、入れた瞬間に警告が何百件も出ました。型チェッカは逆です。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321808" cy="2331720"/>
          </a:xfrm>
          <a:prstGeom prst="roundRect">
            <a:avLst>
              <a:gd name="adj" fmla="val 196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7568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billing.py（型注釈なし・今の社内コードの姿）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4919472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find_coupon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(code):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COUPONS.get(code)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apply_coupon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(amount, code):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rate = find_coupon(code)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amount * rate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# None なら落ちる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965960"/>
            <a:ext cx="5321808" cy="2331720"/>
          </a:xfrm>
          <a:prstGeom prst="roundRect">
            <a:avLst>
              <a:gd name="adj" fmla="val 196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207568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23160"/>
            <a:ext cx="4919472" cy="176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billing.py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INFO 0 errors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検査していないのであって、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問題がないわけではない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4480560"/>
            <a:ext cx="1645920" cy="393192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0216" y="4480560"/>
            <a:ext cx="164592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B3261E"/>
                </a:solidFill>
                <a:latin typeface="Meiryo"/>
                <a:ea typeface="Meiryo"/>
                <a:cs typeface="Meiryo"/>
              </a:rPr>
              <a:t>0 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12064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注釈のない関数の中は、型チェッカも見ません。「緑だから安心」が、ここでは一度だけ嘘になります。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だから、まず1つの関数に型を書く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さっきの2つの関数に、引数と戻り値の型を足しただけです。中身は1文字も変えていません。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20"/>
            <a:ext cx="5321808" cy="2560320"/>
          </a:xfrm>
          <a:prstGeom prst="roundRect">
            <a:avLst>
              <a:gd name="adj" fmla="val 1785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billing.py（型注釈あり）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4919472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find_coupon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(code: </a:t>
            </a:r>
            <a:r>
              <a:rPr sz="116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16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float | None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COUPONS.get(code)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apply_coupon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(amount: </a:t>
            </a:r>
            <a:r>
              <a:rPr sz="116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code: </a:t>
            </a:r>
            <a:r>
              <a:rPr sz="116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str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16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rate = find_coupon(code)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amount *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74520"/>
            <a:ext cx="5321808" cy="2560320"/>
          </a:xfrm>
          <a:prstGeom prst="roundRect">
            <a:avLst>
              <a:gd name="adj" fmla="val 1785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198424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331720"/>
            <a:ext cx="4919472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billing.py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`*` is not supported between `float` and `None`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--&gt; billing.py:12:12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|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12 |     return amount * rate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 |            ------^^^----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 |            |        |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 |            |        has type `None`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 |            has type `float`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INFO 1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72000"/>
            <a:ext cx="11055096" cy="1097280"/>
          </a:xfrm>
          <a:prstGeom prst="roundRect">
            <a:avLst>
              <a:gd name="adj" fmla="val 4166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4809744"/>
            <a:ext cx="10579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COUPONS に無いクーポンコードが来たら、rate は None。None は掛け算できない。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57216"/>
            <a:ext cx="10579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落ちていないのは、たまたま知らないコードが来ていないだけ。実行しなくても、書いた瞬間に分かりました。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実際に捕まえるもの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502152" cy="2331720"/>
          </a:xfrm>
          <a:prstGeom prst="roundRect">
            <a:avLst>
              <a:gd name="adj" fmla="val 196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None の見落とし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18104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.get()、正規表現の match、DB の検索結果。「無いかもしれない」を忘れる。いちばん多い。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64208"/>
            <a:ext cx="3502152" cy="2331720"/>
          </a:xfrm>
          <a:prstGeom prst="roundRect">
            <a:avLst>
              <a:gd name="adj" fmla="val 196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引数の取り違え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118104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shipping_fee(ship_to, amount) のように順番を逆にした呼び出し。引数が同じ個数だと、レビューでも気づけない。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64208"/>
            <a:ext cx="3502152" cy="2331720"/>
          </a:xfrm>
          <a:prstGeom prst="roundRect">
            <a:avLst>
              <a:gd name="adj" fmla="val 196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直した後の、消し忘れ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18104"/>
            <a:ext cx="30266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戻り値の形を変えたのに、呼び出し側が古いまま。修正漏れが機械的に全部出てきます。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06240"/>
            <a:ext cx="11055096" cy="1325880"/>
          </a:xfrm>
          <a:prstGeom prst="roundRect">
            <a:avLst>
              <a:gd name="adj" fmla="val 3448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431596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引数を入れ替えて呼んだとき（実際の出力）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663440"/>
            <a:ext cx="1065276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Argument `str` is not assignable to parameter `amount` with type `float` in function `shipping_fee`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--&gt; billing.py:22:34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Argument `float` is not assignable to parameter `ship_to` with type `str` in function `shipping_fee`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--&gt; billing.py:22:43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71500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どれも「動かせば分かる」ものです。違うのは、動かす前に、全部まとめて分かること。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既存コードへの入れ方 ― 3段階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を入れてみる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いきなり全部を厳しくすると、前回の ruff と同じで心が折れます。順番があります。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502152" cy="2514600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" y="202082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7860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今から触るファイルだけ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36976"/>
            <a:ext cx="30266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既存の何百ファイルは放っておく。今日直すファイル1つに型を書く。それだけ。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02152" cy="2514600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81144" y="202082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81144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57860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新しく書く関数には必ず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236976"/>
            <a:ext cx="30266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新規は型付き、既存は無し。これを続けるだけで、時間が経つほど型付きの割合が増えます。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783080"/>
            <a:ext cx="3502152" cy="2514600"/>
          </a:xfrm>
          <a:prstGeom prst="roundRect">
            <a:avLst>
              <a:gd name="adj" fmla="val 181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57616" y="202082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57860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最後に、厳しさを上げる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236976"/>
            <a:ext cx="302666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preset を legacy → 既定 → strict と段階的に上げる。最初から strict にしない。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26280"/>
            <a:ext cx="11055096" cy="1097280"/>
          </a:xfrm>
          <a:prstGeom prst="roundRect">
            <a:avLst>
              <a:gd name="adj" fmla="val 4166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" y="463600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pyproject.toml ― 厳しさは3段階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983480"/>
            <a:ext cx="106527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preset = </a:t>
            </a: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"legacy"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# 緩い。mypy から移ってきた直後はここ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preset = </a:t>
            </a: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"strict"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# 慣れてから。注釈の抜けも指摘される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前回と同じ作法です。全部を直そうとしない。今触るところだけ、確実に。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Pyrefly が守れない場所がある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型注釈は「約束」であって「検査」ではありません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型注釈は、実行時には何もしません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守れない場所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ここを誤解したまま使うと、あとで痛い目に遭います。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5321808" cy="2011680"/>
          </a:xfrm>
          <a:prstGeom prst="roundRect">
            <a:avLst>
              <a:gd name="adj" fmla="val 2272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12140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check.py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68880"/>
            <a:ext cx="49194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price_of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(x: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return x * 2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print(price_of(</a:t>
            </a: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"abc"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))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# int と書いたのに文字列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2011680"/>
            <a:ext cx="5321808" cy="2011680"/>
          </a:xfrm>
          <a:prstGeom prst="roundRect">
            <a:avLst>
              <a:gd name="adj" fmla="val 2272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212140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68880"/>
            <a:ext cx="49194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check.py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Argument `Literal['abc']` is not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assignable to parameter `x` with type `int`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python check.py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'abcabc'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97680"/>
            <a:ext cx="11055096" cy="160020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572000"/>
            <a:ext cx="10506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Python 本体は、型注釈を読んでいません。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230368"/>
            <a:ext cx="10506456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Pyrefly は怒りますが、実行すれば普通に動いて 'abcabc' を返します。型注釈は「int を渡す約束です」という申告であって、入口の検査ではありません。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08192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約束を守るのは、コードを書く側です。― では、外から来るデータは誰が守るのか。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デモ：外から来たデータには、無力です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守れない場所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JSON を読み込んだ瞬間、型の情報は消えます。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321808" cy="2194560"/>
          </a:xfrm>
          <a:prstGeom prst="roundRect">
            <a:avLst>
              <a:gd name="adj" fmla="val 2083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7568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load.py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4919472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import json, pathlib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 = json.loads(path.read_text())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item  = order["items"][0]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amount = item["price"] * item["qty"]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965960"/>
            <a:ext cx="5321808" cy="2194560"/>
          </a:xfrm>
          <a:prstGeom prst="roundRect">
            <a:avLst>
              <a:gd name="adj" fmla="val 2083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207568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Pyrefly の答え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23160"/>
            <a:ext cx="4919472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load.py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 INFO revealed type: Unknown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--&gt; load.py:9:12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INFO 0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43400"/>
            <a:ext cx="11055096" cy="160020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617720"/>
            <a:ext cx="10506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Unknown =「型が分からない」。型チェッカは、そこから先を検査しません。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276088"/>
            <a:ext cx="10506456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json.loads も、型情報のない外部ライブラリも、返ってくるのはこれです。境界を Unknown のまま通すと、内側でどれだけ型を書いても素通りになります。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08192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型チェッカは「書いてあること」しか見ません。書いていないデータのことは、分からない。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そして、これが本番で起きること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守れない場所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取引先から届いた JSON。price が、数字ではなく文字列で入っていました。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321808" cy="1874520"/>
          </a:xfrm>
          <a:prstGeom prst="roundRect">
            <a:avLst>
              <a:gd name="adj" fmla="val 2439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7568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order.json（届いたデータ）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4919472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"order_id": "A-1042",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"items": [{"price": </a:t>
            </a:r>
            <a:r>
              <a:rPr sz="132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"1500"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"qty": 2}]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数字に見えるが、文字列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965960"/>
            <a:ext cx="5321808" cy="1874520"/>
          </a:xfrm>
          <a:prstGeom prst="roundRect">
            <a:avLst>
              <a:gd name="adj" fmla="val 2439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207568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実行結果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23160"/>
            <a:ext cx="4919472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python run.py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'15001500'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例外なし。エラーログも出ない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02336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4023360"/>
            <a:ext cx="18105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B3261E"/>
                </a:solidFill>
                <a:latin typeface="Meiryo"/>
                <a:ea typeface="Meiryo"/>
                <a:cs typeface="Meiryo"/>
              </a:rPr>
              <a:t>落ちない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72000"/>
            <a:ext cx="11055096" cy="1417320"/>
          </a:xfrm>
          <a:prstGeom prst="roundRect">
            <a:avLst>
              <a:gd name="adj" fmla="val 3225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8" y="4846320"/>
            <a:ext cx="10506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"1500" * 2 は '15001500' ― Python では、文字列の掛け算が成立します。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504688"/>
            <a:ext cx="10506456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例外も、エラーログも出ません。請求額が '15001500' のまま、下流の処理へ流れていきます。気づくのは、ずっと後です。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pydantic で境界を守る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外から来た値を、型のついた値に変える1行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pydantic ってなに？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読みは「パイダンティック」。クラスを1つ書くと、外から来たデータを検査して変換してくれます。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0552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35000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クラスを書くと、検査してくれる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BaseModel を継承して、属性に型を書くだけ。検査のコードは1行も書きません。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2130552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74536" y="235000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変換もする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816352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"1500" を 1500 に直します。JSON や CSV から来る「文字列の数字」を、使える値にする。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05656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325112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エラーが読める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791456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どのフィールドが、なぜダメで、何が入っていたか。3か所おかしければ3件まとめて報告します。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4105656"/>
            <a:ext cx="5321808" cy="1837944"/>
          </a:xfrm>
          <a:prstGeom prst="roundRect">
            <a:avLst>
              <a:gd name="adj" fmla="val 248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74536" y="4325112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v2 からコアが Rust 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4791456"/>
            <a:ext cx="4773168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2026年9月現在の最新は 2.13 系。境界で1回通すだけなら、速度を気にする場面はまずありません。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236208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「境界に1枚、門を立てる」道具です。内側のクラス全部に使うものではありません。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書き方 ― dict を、クラスにするだけ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5B6770"/>
                </a:solidFill>
                <a:latin typeface="Meiryo"/>
                <a:ea typeface="Meiryo"/>
                <a:cs typeface="Meiryo"/>
              </a:rPr>
              <a:t>Before ― 想定はコメントに書いてある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321808" cy="1874520"/>
          </a:xfrm>
          <a:prstGeom prst="roundRect">
            <a:avLst>
              <a:gd name="adj" fmla="val 2439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975104"/>
            <a:ext cx="4919472" cy="1618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items は dict のリスト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  category: 文字列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  price:    0以上の整数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  qty:      1以上の整数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def subtotal(items):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4173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After ― 同じことを、型で書く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47088"/>
            <a:ext cx="5321808" cy="1874520"/>
          </a:xfrm>
          <a:prstGeom prst="roundRect">
            <a:avLst>
              <a:gd name="adj" fmla="val 2439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1975104"/>
            <a:ext cx="4919472" cy="1618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Item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(BaseModel):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category: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str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price: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= Field(ge=0)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qty: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= Field(ge=1)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(BaseModel):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items: </a:t>
            </a:r>
            <a:r>
              <a:rPr sz="132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list[Item]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23360"/>
            <a:ext cx="11055096" cy="160020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4297680"/>
            <a:ext cx="105064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コメントとの違いは、ズレたときに落ちること。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956048"/>
            <a:ext cx="10506456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コメントは、実装が変わっても書き換えられずに残ります。型は、合わなくなった瞬間にエラーになる。― 腐らない仕様書です。Field(ge=0) のような条件も、同じ場所に書けます。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85216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検査のコードは1行も書いていません。書いたのは「形」だけです。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使い方は1行 ― model_validate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読み込んだ生のデータを、いま作ったクラスに通します。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1055096" cy="1965960"/>
          </a:xfrm>
          <a:prstGeom prst="roundRect">
            <a:avLst>
              <a:gd name="adj" fmla="val 2325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756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load.py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106527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raw = json.loads(path.read_text(encoding="utf-8"))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 = Order.model_validate(raw)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# ← ここが門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order.items[0].price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# int。ここから先は型が保証されている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order.items[0].qty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# 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60520"/>
            <a:ext cx="5321808" cy="1417320"/>
          </a:xfrm>
          <a:prstGeom prst="roundRect">
            <a:avLst>
              <a:gd name="adj" fmla="val 3225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4270248"/>
            <a:ext cx="49194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実行結果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617720"/>
            <a:ext cx="4919472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python load.py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1500 2</a:t>
            </a:r>
          </a:p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4160520"/>
            <a:ext cx="5321808" cy="1600200"/>
          </a:xfrm>
          <a:prstGeom prst="roundRect">
            <a:avLst>
              <a:gd name="adj" fmla="val 285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6248" y="4416552"/>
            <a:ext cx="48097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"1500" は 1500 になっています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5074920"/>
            <a:ext cx="4809744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さっき '15001500' になった計算が、3000 で返ってきます。門を1枚通しただけ。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デモ：壊れたデータを食わせてみる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price が日本語、qty が 0、ship_to が丸ごと無い ― 3か所おかしいデータを渡します。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1055096" cy="2788920"/>
          </a:xfrm>
          <a:prstGeom prst="roundRect">
            <a:avLst>
              <a:gd name="adj" fmla="val 1639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7568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ValidationError（実際の出力）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23160"/>
            <a:ext cx="1065276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3 validation errors for Order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items.0.price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Input should be a valid integer, unable to parse string as an integer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[type=int_parsing, input_value='たぶん1500', input_type=str]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items.0.qty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Input should be greater than or equal to 1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[type=greater_than_equal, input_value=0, input_type=int]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ship_to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Field required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[type=missing, input_value={'order_id': 'A-1043', ...}]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5263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" y="5029200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どこが・なぜ・何が入っていたか。3件をまとめて報告します。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散らばっていた if が、1か所に集まる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5B6770"/>
                </a:solidFill>
                <a:latin typeface="Meiryo"/>
                <a:ea typeface="Meiryo"/>
                <a:cs typeface="Meiryo"/>
              </a:rPr>
              <a:t>Before ― 呼び出し側のあちこちに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321808" cy="2377440"/>
          </a:xfrm>
          <a:prstGeom prst="roundRect">
            <a:avLst>
              <a:gd name="adj" fmla="val 1923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975104"/>
            <a:ext cx="4919472" cy="212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if "price" not in item: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raise ValueError("price がありません")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if not isinstance(item["price"], int):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item["price"] = int(item["price"])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if item["price"] &lt; 0: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raise ValueError("price が負です")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if "qty" not in item: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4173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After ― 型定義の中に1行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847088"/>
            <a:ext cx="5321808" cy="2377440"/>
          </a:xfrm>
          <a:prstGeom prst="roundRect">
            <a:avLst>
              <a:gd name="adj" fmla="val 1923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4" y="1975104"/>
            <a:ext cx="4919472" cy="212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price: </a:t>
            </a: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= Field(ge=0)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「ある」「整数である」「0以上」を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この1行がまとめて引き受ける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80560"/>
            <a:ext cx="1105509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4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同じ検査が3か所にコピーされている、という状態がなくなります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4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条件が変わったとき、直す場所が1つに決まります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検査を「書かなくなる」のではなく、「1か所に集める」のが本質です。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pydantic と Pyrefly が噛み合う瞬間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キーの打ち間違いを、それぞれがどう扱うかを見てください。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5B6770"/>
                </a:solidFill>
                <a:latin typeface="Meiryo"/>
                <a:ea typeface="Meiryo"/>
                <a:cs typeface="Meiryo"/>
              </a:rPr>
              <a:t>dict のまま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04288"/>
            <a:ext cx="5321808" cy="2240280"/>
          </a:xfrm>
          <a:prstGeom prst="roundRect">
            <a:avLst>
              <a:gd name="adj" fmla="val 204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432304"/>
            <a:ext cx="4919472" cy="1984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raw["items"][0][</a:t>
            </a: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"prise"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# 打ち間違い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typo.py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INFO 0 errors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実行して KeyError が出るまで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誰も気づかない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18745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モデルに変えた後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2304288"/>
            <a:ext cx="5321808" cy="2240280"/>
          </a:xfrm>
          <a:prstGeom prst="roundRect">
            <a:avLst>
              <a:gd name="adj" fmla="val 204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01384" y="2432304"/>
            <a:ext cx="4919472" cy="1984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order.items[0].</a:t>
            </a: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prise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# 同じ打ち間違い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typo.py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Object of class `Item` has no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attribute `prise`  [missing-attribute]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  Did you mean `price`?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INFO 1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09160"/>
            <a:ext cx="11055096" cy="1097280"/>
          </a:xfrm>
          <a:prstGeom prst="roundRect">
            <a:avLst>
              <a:gd name="adj" fmla="val 4166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4946904"/>
            <a:ext cx="10579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境界でモデルに変えた瞬間から、その先のコード全部が検査対象になります。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294376"/>
            <a:ext cx="10579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pydantic は「データを検査するため」だけの道具ではありません。内側で型チェッカを効かせるために入れます。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ただし ― 門を通した後は、見ていません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model_validate を通ったあとのオブジェクトを書き換えても、pydantic は何も言いません。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実行してみる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04288"/>
            <a:ext cx="5321808" cy="2331720"/>
          </a:xfrm>
          <a:prstGeom prst="roundRect">
            <a:avLst>
              <a:gd name="adj" fmla="val 196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432304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 = Order.model_validate(raw)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# ここは検証される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o.items.append(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{"category": "food",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"price": </a:t>
            </a: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"たぶん300"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, "qty": </a:t>
            </a: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python app.py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{'category': 'food', 'price': 'たぶん300', ...}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通る。Item にすらならず dict のまま入る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216" y="187452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Pyrefly にかける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2304288"/>
            <a:ext cx="5321808" cy="2331720"/>
          </a:xfrm>
          <a:prstGeom prst="roundRect">
            <a:avLst>
              <a:gd name="adj" fmla="val 196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01384" y="2432304"/>
            <a:ext cx="4919472" cy="2075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check app.py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Argument `dict[str, int | str]` is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not assignable to parameter with type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`Item` in function `list.append`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--&gt; app.py:5:16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# pydantic が見逃す場所を、静的側が捕まえる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800600"/>
            <a:ext cx="11055096" cy="1005840"/>
          </a:xfrm>
          <a:prstGeom prst="roundRect">
            <a:avLst>
              <a:gd name="adj" fmla="val 4545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800600"/>
            <a:ext cx="1050645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26ページの逆向きです。型チェッカがないと、pydantic の守りに穴が空きます。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8932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では、どう書けばいいのか ― 次のページです。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じゃあ、どう書くか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原則は2つだけです。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321808" cy="1005840"/>
          </a:xfrm>
          <a:prstGeom prst="roundRect">
            <a:avLst>
              <a:gd name="adj" fmla="val 4545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60" y="2148840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47088"/>
            <a:ext cx="433425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一度作ったモデルは、足したり引いたりしない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847088"/>
            <a:ext cx="5321808" cy="1005840"/>
          </a:xfrm>
          <a:prstGeom prst="roundRect">
            <a:avLst>
              <a:gd name="adj" fmla="val 4545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556248" y="2148840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6248" y="21488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1847088"/>
            <a:ext cx="433425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段階の数だけ、モデルを作る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35808"/>
            <a:ext cx="11055096" cy="2194560"/>
          </a:xfrm>
          <a:prstGeom prst="roundRect">
            <a:avLst>
              <a:gd name="adj" fmla="val 2083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3145536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C9BA8"/>
                </a:solidFill>
                <a:latin typeface="Consolas"/>
                <a:ea typeface="Consolas"/>
                <a:cs typeface="Consolas"/>
              </a:rPr>
              <a:t>段階ごとにモデルを分ける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493008"/>
            <a:ext cx="10652760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OrderIn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(BaseModel):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   # 外から届いた状態 ← 検証したいので pydantic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items: </a:t>
            </a: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tuple[Item, ...]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   # list ではなく tuple。append が存在しなくなる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OrderPriced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(BaseModel):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# 金額が確定した状態 ← 内側なら dataclass でもいい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items: </a:t>
            </a: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tuple[Item, ...]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total: </a:t>
            </a: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= Field(ge=0)</a:t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1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def 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price_order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(o: </a:t>
            </a: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OrderIn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21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OrderPriced</a:t>
            </a:r>
            <a:r>
              <a:rPr sz="121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1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# 関数の形が、段階そのものになる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94960"/>
            <a:ext cx="11055096" cy="868680"/>
          </a:xfrm>
          <a:prstGeom prst="roundRect">
            <a:avLst>
              <a:gd name="adj" fmla="val 5263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5394960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段階を分けるのは設計の話です。pydantic の機能ではなく、dataclass でも同じことができます。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1行書けば、両側が守られる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会員ランクは gold / silver / bronze / none の4つ。この「仕様」を型で書きます。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20"/>
            <a:ext cx="11055096" cy="868680"/>
          </a:xfrm>
          <a:prstGeom prst="roundRect">
            <a:avLst>
              <a:gd name="adj" fmla="val 5263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002536"/>
            <a:ext cx="1065276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Rank = </a:t>
            </a:r>
            <a:r>
              <a:rPr sz="1540" b="0">
                <a:solidFill>
                  <a:srgbClr val="7FB3D5"/>
                </a:solidFill>
                <a:latin typeface="Consolas"/>
                <a:ea typeface="Consolas"/>
                <a:cs typeface="Consolas"/>
              </a:rPr>
              <a:t>Literal</a:t>
            </a:r>
            <a:r>
              <a:rPr sz="154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["gold", "silver", "bronze", "none"]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2608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コードの中で間違えたとき（Pyrefly）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55848"/>
            <a:ext cx="5321808" cy="1508760"/>
          </a:xfrm>
          <a:prstGeom prst="roundRect">
            <a:avLst>
              <a:gd name="adj" fmla="val 303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3483864"/>
            <a:ext cx="4919472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discount_rate("Gold")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ERROR Argument `Literal['Gold']` is not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assignable to parameter `rank` with type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`Literal['bronze', 'gold', 'none', ...]`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532180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外から届いたとき（pydantic）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3355848"/>
            <a:ext cx="5321808" cy="1508760"/>
          </a:xfrm>
          <a:prstGeom prst="roundRect">
            <a:avLst>
              <a:gd name="adj" fmla="val 303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01384" y="3483864"/>
            <a:ext cx="4919472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Order(member_rank="Gold")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E0C879"/>
                </a:solidFill>
                <a:latin typeface="Consolas"/>
                <a:ea typeface="Consolas"/>
                <a:cs typeface="Consolas"/>
              </a:rPr>
              <a:t>member_rank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Input should be 'gold', 'silver',</a:t>
            </a:r>
          </a:p>
          <a:p>
            <a:pPr algn="l">
              <a:lnSpc>
                <a:spcPct val="100000"/>
              </a:lnSpc>
            </a:pPr>
            <a:r>
              <a:rPr sz="1160" b="0">
                <a:solidFill>
                  <a:srgbClr val="F0A0A0"/>
                </a:solidFill>
                <a:latin typeface="Consolas"/>
                <a:ea typeface="Consolas"/>
                <a:cs typeface="Consolas"/>
              </a:rPr>
              <a:t>  'bronze' or 'none'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5780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同じ1行が、書いた瞬間と、データが入ってきた瞬間の両方で効きます。これが今日の結論です。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前回の安全網と、どう重なるか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境界を守る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3502152" cy="2788920"/>
          </a:xfrm>
          <a:prstGeom prst="roundRect">
            <a:avLst>
              <a:gd name="adj" fmla="val 1639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前回：壊していないことを確認する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18104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ゴールデンマスターは「今と同じ結果か」だけを見ます。入力が想定内である限り、何度でも安心して直せる。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64208"/>
            <a:ext cx="3502152" cy="2788920"/>
          </a:xfrm>
          <a:prstGeom prst="roundRect">
            <a:avLst>
              <a:gd name="adj" fmla="val 1639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81144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今回：想定外の入力を、中に入れない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118104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型は「そもそも何が入ってくるか」を決めます。網の目より外の入力を、入口で止める。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64208"/>
            <a:ext cx="3502152" cy="2788920"/>
          </a:xfrm>
          <a:prstGeom prst="roundRect">
            <a:avLst>
              <a:gd name="adj" fmla="val 1639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57616" y="1901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57616" y="1901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59736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残っているもの：毎回変わるもの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18104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時刻・乱数・DB。前回「テスト時だけ固定する仕組みが要る」と言って保留にした部分は、型では解決しません。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54880"/>
            <a:ext cx="11055096" cy="914400"/>
          </a:xfrm>
          <a:prstGeom prst="roundRect">
            <a:avLst>
              <a:gd name="adj" fmla="val 5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4754880"/>
            <a:ext cx="1050645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3番目 ― 時刻・DB・外部システムをどう切り離すか ― が、次回のテーマです。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1回目は「壊していないこと」、2回目は「入ってくるもの」。3回目は「外に繋がっているもの」。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2971800"/>
            <a:ext cx="786384" cy="7863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971800"/>
            <a:ext cx="786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2808" y="2798064"/>
            <a:ext cx="968349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限界と注意点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8" y="3575304"/>
            <a:ext cx="9409176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9DB8A4"/>
                </a:solidFill>
                <a:latin typeface="Meiryo"/>
                <a:ea typeface="Meiryo"/>
                <a:cs typeface="Meiryo"/>
              </a:rPr>
              <a:t>万能ではないので、先に自分から言っておきます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Pyrefly の限界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限界と注意点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02152" cy="2788920"/>
          </a:xfrm>
          <a:prstGeom prst="roundRect">
            <a:avLst>
              <a:gd name="adj" fmla="val 1639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04672" y="202082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7860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Unknown には勝てない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36976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json、型情報のない外部ライブラリ、動的に組み立てた値。1つ混ざると、そこから先の系統は検査されません。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02152" cy="2788920"/>
          </a:xfrm>
          <a:prstGeom prst="roundRect">
            <a:avLst>
              <a:gd name="adj" fmla="val 1639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81144" y="202082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1144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57860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# type: ignore で黙る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236976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どうしても直せない箇所に付ける逃げ道。付けたまま忘れます。たまに grep して、まだ必要か見直す。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83080"/>
            <a:ext cx="3502152" cy="2788920"/>
          </a:xfrm>
          <a:prstGeom prst="roundRect">
            <a:avLst>
              <a:gd name="adj" fmla="val 1639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57616" y="202082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57616" y="202082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57860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実行時の値は見ていない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236976"/>
            <a:ext cx="30266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「int が来るはず」と書いてあるのを読んでいるだけ。実際に何が来るかは見ていません。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5096" cy="868680"/>
          </a:xfrm>
          <a:prstGeom prst="roundRect">
            <a:avLst>
              <a:gd name="adj" fmla="val 5263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4846320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3番目が、pydantic が必要な理由そのものです。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「チェックが通ったから正しい」ではありません。「書いた通りになっている」だけです。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pydantic の注意点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限界と注意点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321808" cy="1737360"/>
          </a:xfrm>
          <a:prstGeom prst="roundRect">
            <a:avLst>
              <a:gd name="adj" fmla="val 2631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98424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v1 と v2 で書き方が違う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7731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@validator は v1、@field_validator は v2。検索して出てきたコードが動かない原因の大半がこれ。2026年9月現在は 2.13 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216" y="1783080"/>
            <a:ext cx="5321808" cy="1737360"/>
          </a:xfrm>
          <a:prstGeom prst="roundRect">
            <a:avLst>
              <a:gd name="adj" fmla="val 2631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74536" y="198424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全部をモデルにしない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4536" y="2441448"/>
            <a:ext cx="47731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境界だけです。内側の小さな入れ物は dataclass で十分。何でも BaseModel にすると重くなります。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57600"/>
            <a:ext cx="5321808" cy="1737360"/>
          </a:xfrm>
          <a:prstGeom prst="roundRect">
            <a:avLst>
              <a:gd name="adj" fmla="val 2631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385876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黙って変換されることがある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15968"/>
            <a:ext cx="47731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"1500" が 1500 になるのは、嬉しい時と怖い時があります。strict=True にすると変換せず拒否します。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3657600"/>
            <a:ext cx="5321808" cy="1737360"/>
          </a:xfrm>
          <a:prstGeom prst="roundRect">
            <a:avLst>
              <a:gd name="adj" fmla="val 2631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74536" y="385876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検査はタダではない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4315968"/>
            <a:ext cx="47731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ループの中で毎回 model_validate しない。入口で1回だけ通す。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76072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2番目が一番多い失敗です。便利だからと内側まで広げると、速度も可読性も落ちます。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何に型をつけて、何につけないか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何につけて、誰のために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全部につけようとすると挫折します。最初は割り切って構いません。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5321808" cy="3291840"/>
          </a:xfrm>
          <a:prstGeom prst="roundRect">
            <a:avLst>
              <a:gd name="adj" fmla="val 138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まずつける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4773168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外から入ってくるデータ ― JSON / CSV / API / 設定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金額・日付・ID など、間違えると困る値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他の人が呼ぶ関数の、引数と戻り値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None が返りうるところ ― .get() や検索結果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今から新しく書く関数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965960"/>
            <a:ext cx="5321808" cy="3291840"/>
          </a:xfrm>
          <a:prstGeom prst="roundRect">
            <a:avLst>
              <a:gd name="adj" fmla="val 1388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74536" y="2194560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今はつけなくていい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697480"/>
            <a:ext cx="4773168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関数の中のローカル変数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使い捨てのスクリプト、調査用のコード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すぐ仕様が変わると分かっているところ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型を書くと逆に読みにくくなる複雑な構造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既存の、当面触らないファイル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迷ったら「この値が違う型で来たら、誰が困るか」で決める。誰も困らないなら、今はいりません。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型は、結局だれのために書くのか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何につけて、誰のために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21808" cy="3611880"/>
          </a:xfrm>
          <a:prstGeom prst="roundRect">
            <a:avLst>
              <a:gd name="adj" fmla="val 1265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① AI エージェントのため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7744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渡す仕様書であり、採点基準になる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26080"/>
            <a:ext cx="47731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Codex に「この関数を直して」と頼むとき、引数の型が書いてあるかどうかで出てくるコードが変わります。
さらに、書いたあと自分で pyrefly check を回して、赤なら直してもう一度、という自走ができます。前回の ruff と pytest に、型が1つ加わる形です。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600200"/>
            <a:ext cx="5321808" cy="3611880"/>
          </a:xfrm>
          <a:prstGeom prst="roundRect">
            <a:avLst>
              <a:gd name="adj" fmla="val 1265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74536" y="182880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② 半年後の自分とチームのため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37744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読むために実装を開かなくてよくなる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926080"/>
            <a:ext cx="477316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関数の1行目を見れば、何を渡して何が返るか分かる。中を読みに行かなくていい。
「この関数、何を渡すんでしたっけ」という質問が減ります。書いた人がもういない、というコードほど効きます。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53212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型注釈は、コードを速くしません。人と AI が、そのコードを読む速度を上げます。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なぜ Pyrefly なのか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何につけて、誰のために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型チェッカは他にもあります。検索すると mypy の記事のほうが多いので、先に説明しておきます。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502152" cy="2423160"/>
          </a:xfrm>
          <a:prstGeom prst="roundRect">
            <a:avLst>
              <a:gd name="adj" fmla="val 1886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" y="1975104"/>
            <a:ext cx="402336" cy="402336"/>
          </a:xfrm>
          <a:prstGeom prst="ellipse">
            <a:avLst/>
          </a:prstGeom>
          <a:solidFill>
            <a:srgbClr val="8C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3288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mypy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91256"/>
            <a:ext cx="30266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本家で、情報量はいちばん多い。検索して出てくるのはたいてい mypy です。困ったらこれに戻れます。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02152" cy="2423160"/>
          </a:xfrm>
          <a:prstGeom prst="roundRect">
            <a:avLst>
              <a:gd name="adj" fmla="val 1886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81144" y="1975104"/>
            <a:ext cx="402336" cy="402336"/>
          </a:xfrm>
          <a:prstGeom prst="ellipse">
            <a:avLst/>
          </a:prstGeom>
          <a:solidFill>
            <a:srgbClr val="8C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81144" y="1975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53288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Pyright / Pylance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191256"/>
            <a:ext cx="30266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VS Code に最初から入っている型チェッカの中身。エディタ上の波線は、すでにこれが出しています。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737360"/>
            <a:ext cx="3502152" cy="2423160"/>
          </a:xfrm>
          <a:prstGeom prst="roundRect">
            <a:avLst>
              <a:gd name="adj" fmla="val 1886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357616" y="197510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75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532888"/>
            <a:ext cx="30266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Pyrefly（今日これ）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191256"/>
            <a:ext cx="30266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Meta 製。エラーの出方がいちばん親切で、pydantic を最初から理解します。2026年5月に 1.0 が出ています。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89120"/>
            <a:ext cx="11055096" cy="731520"/>
          </a:xfrm>
          <a:prstGeom prst="roundRect">
            <a:avLst>
              <a:gd name="adj" fmla="val 6250"/>
            </a:avLst>
          </a:prstGeom>
          <a:solidFill>
            <a:srgbClr val="1E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" y="4517136"/>
            <a:ext cx="106527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9BE49B"/>
                </a:solidFill>
                <a:latin typeface="Consolas"/>
                <a:ea typeface="Consolas"/>
                <a:cs typeface="Consolas"/>
              </a:rPr>
              <a:t>&gt; pyrefly init</a:t>
            </a:r>
            <a:r>
              <a:rPr sz="1320" b="0">
                <a:solidFill>
                  <a:srgbClr val="9AA8B2"/>
                </a:solidFill>
                <a:latin typeface="Consolas"/>
                <a:ea typeface="Consolas"/>
                <a:cs typeface="Consolas"/>
              </a:rPr>
              <a:t>      # 既存の mypy / pyright 設定を読んで変換してくれる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94960"/>
            <a:ext cx="11055096" cy="868680"/>
          </a:xfrm>
          <a:prstGeom prst="roundRect">
            <a:avLst>
              <a:gd name="adj" fmla="val 5263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5394960"/>
            <a:ext cx="1050645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型注釈そのものは Python の標準仕様です。乗り換えても、書いた型は無駄になりません。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明日からの一歩</a:t>
            </a:r>
          </a:p>
        </p:txBody>
      </p:sp>
      <p:sp>
        <p:nvSpPr>
          <p:cNvPr id="3" name="Oval 2"/>
          <p:cNvSpPr/>
          <p:nvPr/>
        </p:nvSpPr>
        <p:spPr>
          <a:xfrm>
            <a:off x="8924544" y="493776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24544" y="493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1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0304" y="466344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明日からの一歩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5096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60" b="0">
                <a:solidFill>
                  <a:srgbClr val="1F2933"/>
                </a:solidFill>
                <a:latin typeface="Meiryo"/>
                <a:ea typeface="Meiryo"/>
                <a:cs typeface="Meiryo"/>
              </a:rPr>
              <a:t>次に新しく関数を書くとき、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29968"/>
            <a:ext cx="11055096" cy="1051560"/>
          </a:xfrm>
          <a:prstGeom prst="roundRect">
            <a:avLst>
              <a:gd name="adj" fmla="val 4347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4128" y="2029968"/>
            <a:ext cx="1014069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60" b="1">
                <a:solidFill>
                  <a:srgbClr val="2E7D32"/>
                </a:solidFill>
                <a:latin typeface="Meiryo"/>
                <a:ea typeface="Meiryo"/>
                <a:cs typeface="Meiryo"/>
              </a:rPr>
              <a:t>引数と戻り値に、型を1行書く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310128"/>
            <a:ext cx="5321808" cy="2331720"/>
          </a:xfrm>
          <a:prstGeom prst="roundRect">
            <a:avLst>
              <a:gd name="adj" fmla="val 196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353872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これだけで十分な理由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41648"/>
            <a:ext cx="477316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新規コードなので、誰の邪魔もしない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書いた瞬間からエディタの補完が効き始める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既存コードを1行も触らないので、レビューが要らない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1本書ければ、2本目のハードルは一気に下がる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3310128"/>
            <a:ext cx="5321808" cy="2331720"/>
          </a:xfrm>
          <a:prstGeom prst="roundRect">
            <a:avLst>
              <a:gd name="adj" fmla="val 196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74536" y="3538728"/>
            <a:ext cx="4773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詰まったら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4041648"/>
            <a:ext cx="477316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型が書けない＝その関数が何をするか決まっていない合図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外から来るデータの設計は、一緒に見ます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既存コードへの型チェッカの入れ方も、相談してください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一人で全部やろうとしないでください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89788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持ち帰るのは1つだけで構いません。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48056"/>
            <a:ext cx="8220456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8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472184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47218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17320"/>
            <a:ext cx="105064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動的型は、間違いに気づく時刻を実行時まで先送りする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856232"/>
            <a:ext cx="105064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静的型は、その締め切りを「書いた瞬間」に引き戻す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377440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22576"/>
            <a:ext cx="105064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型チェッカは、入れただけでは何も言わない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61488"/>
            <a:ext cx="105064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注釈のない関数は素通り。だから1関数ずつ、型を書いていく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282696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32826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227832"/>
            <a:ext cx="105064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それでも、外から来るデータには無力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66744"/>
            <a:ext cx="105064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json は Unknown。'1500' が紛れ込んでも、例外すら出ずに流れていく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18795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41879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133088"/>
            <a:ext cx="105064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だから境界に門を1枚立てる ― pydantic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572000"/>
            <a:ext cx="105064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検査と変換をまとめて引き受け、散らばった if が1か所に集まる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5093208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50932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038344"/>
            <a:ext cx="1050645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門を通した先は、全部 Pyrefly の検査対象になる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477256"/>
            <a:ext cx="1050645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5B6770"/>
                </a:solidFill>
                <a:latin typeface="Meiryo"/>
                <a:ea typeface="Meiryo"/>
                <a:cs typeface="Meiryo"/>
              </a:rPr>
              <a:t>pydantic は、内側で型チェッカを効かせるために入れる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5509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40" b="1">
                <a:solidFill>
                  <a:srgbClr val="1F2933"/>
                </a:solidFill>
                <a:latin typeface="Meiryo"/>
                <a:ea typeface="Meiryo"/>
                <a:cs typeface="Meiryo"/>
              </a:rPr>
              <a:t>ご清聴ありがとうございました　― 質問をどうぞ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