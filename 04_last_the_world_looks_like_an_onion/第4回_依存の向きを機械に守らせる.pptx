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第4回です。前回までと同じく、手を動かす演習はありません。画面で実物を見せながら進めます。
題材も前回までと同じ請求計算のコード。前回出ていない人でも分かるように作ってあります。
今日は新しい道具を入れません。第1回の ruff に戻ってきます。
ゴールは『明日、業務ロジックのフォルダに ruff.toml を1枚置いてみよう』と思ってもらうこと。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4章が今日の中心です。ここだけ持って帰ってもらえれば成功。
1章は前回（DI）の復習から入ります。2章で DI から DIP へ橋をかけ、3章で配置、4章でそれを機械に守らせます。
演習はないので、気になったところは遠慮なく途中で止めてください。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前回の復習から入る。今日の DIP は、前回の DI の続きとして出てくる、という順番を守る。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前回の結論を1枚で。左の赤い3行が『隠れた依存』、右の緑の3行がそれを外から受け取るようにしたところ。
前回出ていない人は、このページだけ押さえれば今日の話についてこられる。
『DI は引数で渡すだけ』をもう一度言う。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 Step 1〜4 を並べる。色がついている2つが今日の題材。
Step 1 と Step 3 は前回で完結している。Step 2 と Step 4 には、前回は答えていない問いが残っている、という振りをして次のページへ。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復習の2枚から自然に繋ぐ。1つ目が2章・3章、2つ目が4章の答えになる。
今日はその続き。渡す『形』をどこに置くか、そしてその分け方をどう守るか。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『1つでも当てはまる人？』と手を挙げてもらってもいい。
第2回の心当たりは『その値が何なのか、どこにも書いていない』でした。今日は『依存してよい向きが、どこにも書いていない』。
書いていないものは守れない、という同じ構造で振る。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ここが今日いちばん伝えたいこと。
設計の話は、図を描いて終わりになりがち。図は守られない。だから最後は機械に渡す、までを1回でやる。
『また新しいツールか』と身構えられる前に、ruff だと言い切る。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第3回の地図（入口の門 → 内側 → 出口の門）は左右に並べた図でした。左右の両端は、どちらも『外の世界』。
それを丸めると同心円になる。外の世界が一番外側の輪、業務ルールが中心。
各章の頭で『今どの輪の話か』を口頭で参照する。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デモあり。新しいことはほとんど出てこない。前回のコードを読み直すだけの章です。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前回のコードそのまま。緑の行が、本物が業務の決めた形に合わせている場所。
普通に書くと逆になる：業務ロジックが sqlite3 の connect や execute の形に合わせて書かれる。
『合わせに来ている』という言い方が、次のページの矢印の話に繋がる。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と DIP の違いを、反例で見せるページ。ここが今日の橋渡し。
DbConnection を引数で受け取っているので DI はできている。偽物も渡せる。でも Protocol の形が DB の都合（execute と SQL）なので、業務ロジックは DB の形に依存したまま。
前回の InvoiceRepository は save(order_id, total) という業務の言葉の形だった。その違いが DIP。
『前回のコードは、たまたま正しかった』のではなく『業務の言葉で書いたから正しかった』と言う。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左は前回の治療前。業務ルールが sqlite3 を直接知っている。矢印は上から下。
右は治療後。業務ルールは Protocol だけを知っていて、詳細の側も Protocol に合わせている。下の矢印が上向きになった。これが『逆転』。
DI は手段（引数で渡す）、DIP は設計の考え方（向き）。前回は DI をしながら、Protocol を業務の言葉で書いたので、結果として DIP にもなっていた。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DIP の『逆転』の正体は、インターフェースの持ち主が変わること。
本物の側に Protocol を置くと、形を決めるのは本物。業務ロジックはそれに合わせる＝矢印は上から下のまま。
使う側に置くと、形を決めるのは業務。本物が合わせに来る＝矢印が逆転する。
第3回の『Settings は環境変数の形、業務ロジックは業務の形で受け取る』と同じ話。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デモ①: app.py に pyrefly check をかける（出力は pyrefly 1.4.0 の実測）。
※ 設定ファイル（pyproject.toml の [tool.pyrefly] か pyrefly.toml）が無いと preset basic になり、このエラーは出ません（実測確認済み）。デモ環境には必ず設定を置くこと。
Java や C# ではインターフェースを implements する必要があるが、Python の Protocol は形が合えば通る（構造的部分型）。
明示したければ infrastructure から ports を import して継承してもよい。外から内への import なので、向きのルールには反しない。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考え方の章。『どこに何を置くか』の答え。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名前の比較を始めると時間が溶けるので、兄弟がいる、だけ言って次へ。
『変わりにくいものを中心に、変わりやすいものを外側に』が本質。依存の向きは、変わりにくい方へ向ける。
変わりやすいものに依存すると、それが変わるたびに自分も変わる羽目になる。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一番右の列が、そのまま4章で ruff に書くルールになる。
application に Protocol を置くのは、前の章の『使う側が持つ』から。
最後の1行の判定基準は、受講者が自分のコードで迷ったときにそのまま使える。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心当たりの1番目への答え。
utils/ や common/ は、層の外にある『何でも入れていい場所』になりがち。依存の向きも守られない。
迷うコードは分ける合図、という話は第1回の『長い関数は分けるサイン』と同じ構造。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第2回の『段階ごとにモデルを分ける』は、ここで層の言葉になる。外から届いた段階（OrderIn）は外側、業務の段階（Order）は内側。
これはチームで決めてよいところ。domain で pydantic を許す流派もある。今日は『門は外側』で揃える。
tuple にしているのは第2回と同じ理由（append を存在させない）。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前回、名前は覚えなくていいと言ったコンポジションルート。今日は層の言葉で位置づける。
main が全部を知っているのは、向きのルールに反しない。一番外側から内側を見ているだけ。
main に if 文が増えてきたら、業務ルールが漏れ出している合図。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デモあり。ここが今日の山場。
設計を『図』として教えて終わらない。『落ちるチェック』まで持っていく。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1番は誰にでも経験がある。悪いのは人ではなく、守る仕組みがないこと。
2番は Codex を使っている人に刺さる。エージェントは AGENTS.md を読んでも、守るとは限らない。落ちるチェックなら、必ず気づく。
3番は第1回 8ページ『3つとも人間がレビューで指摘しなくていいこと』の続き。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 16ページの『設定を数行足すと、機械が教えてくれる』と同じ作法。
extend を忘れると何が起きるかは、5章で見せる（ここでは予告だけ）。
banned-api はモジュールでも、モジュールの中の名前でも書ける。次のページで使う。
※ ruff 0.17.1 で実測確認済み。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デモ②: その場で import sqlite3 を足して ruff check（出力は ruff 0.17.1 の実測）。
エージェントはこのメッセージを読んで、自分で書き直せる。『DB を知らない』と書いてあれば、Protocol 越しにする方向に直す。
from billing.infrastructure.db import ...（サブモジュール）や from ..infrastructure import db（相対 import）も同じく止まることを確認済み。聞かれたら答える。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デモ③: ruff.toml に2行足して再実行（実測確認済み。os.environ も同様に止まる）。
ここが第3回との接続点。DI は『守り続けないと崩れる』決めごとだが、ruff に書けば崩れない。
datetime.datetime.now も同じ書き方で足せる。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表は内向きにしか許していないので、直接の import だけ見れば、間接的な依存も外に出ない。
application → domain → (外へは行けない)。domain が外を import していれば、そこで domain 側が落ちる。
infrastructure に ruff.toml を置かないのは、外側だから。main を import されたくなければ、それだけ足してもよい。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前回までと同じ構造。限界を自分で言うかどうかで、講習の信頼度が変わる。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1番はデモで見せる価値がある。extend 行を消すと、date.today() を使っているのに All checks passed! が出る（実測確認済み）。
第2回 12ページ『入れた直後は、何も言いません』と同じ構造。緑だから安心、が一度だけ嘘になる。
対策：わざと違反するファイルを1つ置いて、落ちることを確かめる。または ruff.toml を作ったら、一度わざと import を足して赤を見る。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2番は、設計の本を読んだ直後の人がやりがち。第3回の『Protocol を作りすぎない』と同じ。
3番がこの講習の主張そのもの。フォルダは名札でしかない。守るチェックがあって初めて層になる。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前回までの『何をテストするか』『何に型をつけるか』『何を注入するか』と同じ役割の章。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フレームワークが構造を決めている場合（Django など）は、その流儀に従うほうが読みやすい。無理に4層にしない。
最後の判定基準は、3章の『DB を替えたら変わるか』と同じ問いを、プロジェクト全体に向けたもの。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ここは自分の意見として話す。『こう思っています』と主語を自分にする。
第1回〜第3回の『誰のために』の続き。エージェントは図や AGENTS.md より、落ちるチェックのほうを確実に守る。
Codex を使っている人には『エージェントが変なところに import を足してきたことは？』と振ると早い。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シリーズ全体の振り返り。第1回 37ページ『人間のフォーカスは確かめる作業から基準を決めることへ』に戻ってくる。
4回とも、道具は違っても、やっていることは同じ。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持ち帰りは1つだけに絞る。あれもこれも言うと何も残らない。
--add-noqa は、今ある違反の行に noqa を付けて棚上げする機能。第1回の『既存分は一旦棚上げ』と同じ作法。付いた noqa は、それ自体が直すべき場所のリストになる。
※ 相談先として自分の名前・連絡手段をここで明示する。ここが実際の導入率を左右します。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第3回の締め『依存が依存以上の影響を持つことが悪』の続きとして話す。
DI で依存を見える場所に出し、DIP で向きを決め、ruff で向きを守る。これで依存は悪にならない。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質問が出なければ『今のプロジェクトで、domain にしたいフォルダはどれですか』と振ると話が始まります。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" y="2276856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依存の向きを、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13639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機械に守らせる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15384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6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DIP とオニオンアーキテクチャ ―</a:t>
            </a:r>
            <a:endParaRPr lang="en-US" sz="176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4892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/ DIP・オニオンアーキテクチャと ruff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308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4996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5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14996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21854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854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から DIP へ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253728" y="2276856"/>
            <a:ext cx="1645920" cy="393192"/>
          </a:xfrm>
          <a:prstGeom prst="roundRect">
            <a:avLst>
              <a:gd name="adj" fmla="val 13953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53728" y="227685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8712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28712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オニオンアーキテクチャ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2648" y="35570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35570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で向きを守る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53728" y="3648456"/>
            <a:ext cx="1645920" cy="393192"/>
          </a:xfrm>
          <a:prstGeom prst="roundRect">
            <a:avLst>
              <a:gd name="adj" fmla="val 139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53728" y="364845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今日の山場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2428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" y="42428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限界と注意点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49286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49286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何に層を作って、誰のために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" y="5614416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069848" y="56144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 / Q&amp;A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まず、前回の DI を復習します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前回の復習：依存症と、その治し方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第3回「外に繋がるコードの依存症の治し方」を、2枚で振り返ります。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治療前 ― 自分で取りに行く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49926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calc_invoice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date.today() &lt;= CAMPAIGN_END:       # 時計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0.95)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sqlite3.connect("C:/billing/...")  # DB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requests.post("https://...", ...)       # メール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190488" y="1828800"/>
            <a:ext cx="5431536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治療後 ― 外から渡してもらう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28600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InvoiceRepository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calc_invoice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today &lt;= CAMPAIGN_END: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0.95)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invoices.save(order.order_id, total)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mailer.send(order.email, f"ご請求額 {total}円")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11055096" cy="1325880"/>
          </a:xfrm>
          <a:prstGeom prst="roundRect">
            <a:avLst>
              <a:gd name="adj" fmla="val 413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70916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依存は悪ではない。悪いのは、隠れていて差し替えられないこと。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166360"/>
            <a:ext cx="10506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だから、必要なものは自分で取りに行かず、引数で外から渡してもらう ― これが DI（依存性の注入）でした。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前回の復習：DI の4ステップ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前回は、この4つの手順で依存を外に出しました。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57860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1：引数に出す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2461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隠れた依存（時計・DB・メール）を、シグネチャに出す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3383280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21024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57860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2：形を Protocol で書く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32461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「保存できればいい」「送れればいい」だけを書く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37376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57860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3：テストでは偽物を渡す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32461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もネットワークも要らない。境界の日付もテストできる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9015984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53728" y="202082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53728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40" dirty="0"/>
          </a:p>
        </p:txBody>
      </p:sp>
      <p:sp>
        <p:nvSpPr>
          <p:cNvPr id="25" name="Text 23"/>
          <p:cNvSpPr txBox="1"/>
          <p:nvPr/>
        </p:nvSpPr>
        <p:spPr>
          <a:xfrm>
            <a:off x="9253728" y="257860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4：組み立ては main だけ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32461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本物の部品を知っているのは、一番外側だけ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566928" y="4526280"/>
            <a:ext cx="11055096" cy="822960"/>
          </a:xfrm>
          <a:prstGeom prst="roundRect">
            <a:avLst>
              <a:gd name="adj" fmla="val 6667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5262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今日は、このうち Step 2 と Step 4 を掘り下げます。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5321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 の Protocol は、どこに置けばいいのか。Step 4 で分けた形を、どうやって崩さずに保つのか。</a:t>
            </a:r>
            <a:endParaRPr lang="en-US" sz="14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前回、問いを2つ残しています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 と Step 4 には、前回答えていない問いがあります。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21808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1226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6700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2：Protocol は、どこに置くのか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355848"/>
            <a:ext cx="4846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前回は ports.py に置きました。なぜそこなのか、本物の部品の側に置いてはいけないのか、には答えていません。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300216" y="1874520"/>
            <a:ext cx="5321808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211226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700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4：分けた形を、誰が守るのか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355848"/>
            <a:ext cx="4846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今日きれいに分けても、半年後に誰かが（AI が）業務ロジックに import sqlite3 を足せば、元に戻ります。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66928" y="4434840"/>
            <a:ext cx="11055096" cy="1143000"/>
          </a:xfrm>
          <a:prstGeom prst="roundRect">
            <a:avLst>
              <a:gd name="adj" fmla="val 48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544568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第3回の最後のページから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9204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E6ED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残っているもの ― Protocol はどこに置くのか、依存の向きを誰が守るのか ― が、次回のテーマです。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今日はこの2つに答えます。題材も前回までと同じ、請求計算のコードです。</a:t>
            </a:r>
            <a:endParaRPr lang="en-US" sz="1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心当たり、ありませんか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新しいクラスを、どこに置けばいいか分からない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utils/ と common/ と helpers/ が並んでいて、どれにも何でも入っている。</a:t>
            </a:r>
            <a:endParaRPr lang="en-US" sz="13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結局、今開いているファイルに書き足す。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3400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業務ロジックに、DB や HTTP が混ざっていく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最初は分かれていた。修正のたびに「ついでに」import が増え、今では計算のテストにも DB が要る。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19872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761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レビューで import の行まで見ていられない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差分の本体を見るので精一杯。AI が書いた変更の import 文を、一行ずつ確かめる人はいない。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495544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3つとも「どこが何に依存してよいか、どこにも書いていない」ことから来ています。</a:t>
            </a:r>
            <a:endParaRPr lang="en-US" sz="15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今日の結論を先に言います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55096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24128" y="2011680"/>
            <a:ext cx="10140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6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依存の向きは、内側へ</a:t>
            </a:r>
            <a:endParaRPr lang="en-US" sz="286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615184"/>
            <a:ext cx="10140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6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そして、その向きは ruff に守らせる</a:t>
            </a:r>
            <a:endParaRPr lang="en-US" sz="28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913632"/>
            <a:ext cx="11055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 DI に、もう1つ足す：Protocol は使う側（内側）が持つ ― これが DIP</a:t>
            </a:r>
            <a:endParaRPr lang="en-US" sz="176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業務ルールを中心に、外の世界を外側に並べる ― これがオニオンアーキテクチャ</a:t>
            </a:r>
            <a:endParaRPr lang="en-US" sz="176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どの層が何を import してはいけないかを、層ごとの ruff.toml に書く ― 第1回の ruff</a:t>
            </a:r>
            <a:endParaRPr lang="en-US" sz="176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85216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新しい道具は入れません。第1回の ruff に、設定を数行足すだけです。</a:t>
            </a:r>
            <a:endParaRPr lang="en-US" sz="15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今日の地図 ― 前回の地図を、同心円に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迷ったら、この1枚に戻ってください。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1051560" y="1828800"/>
            <a:ext cx="3566160" cy="3566160"/>
          </a:xfrm>
          <a:prstGeom prst="ellipse">
            <a:avLst/>
          </a:prstGeom>
          <a:solidFill>
            <a:srgbClr val="F7F9FA"/>
          </a:solidFill>
          <a:ln w="19050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2395728"/>
            <a:ext cx="2432304" cy="2432304"/>
          </a:xfrm>
          <a:prstGeom prst="ellipse">
            <a:avLst/>
          </a:prstGeom>
          <a:solidFill>
            <a:srgbClr val="E6F4E7"/>
          </a:solidFill>
          <a:ln w="19050">
            <a:solidFill>
              <a:srgbClr val="9DB8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6272" y="2953512"/>
            <a:ext cx="1316736" cy="13167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76272" y="33832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domain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4505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application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infrastructure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554480" y="548640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5448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main.py ― 組み立て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5257800" y="1783080"/>
            <a:ext cx="6364224" cy="82296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86400" y="18745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中心：domain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2128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請求額・キャンペーンの計算ルール。外の世界を何も知らない。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5257800" y="2715768"/>
            <a:ext cx="6364224" cy="82296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86400" y="2807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application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14553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請求書を発行する流れと、必要な部品の形（Protocol）。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5257800" y="3648456"/>
            <a:ext cx="6364224" cy="82296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486400" y="37398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infrastructure</a:t>
            </a:r>
            <a:endParaRPr lang="en-US" sz="154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0782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SQLite・メール・Settings・pydantic の門。外の世界と繋がるところ。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5257800" y="4581144"/>
            <a:ext cx="6364224" cy="82296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486400" y="46725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main.py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501091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全部を組み立てる。層ではなく、一番外の入口。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98932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矢印は、外から内へだけ。前回の入口の門も出口の門も、一番外側の輪にあります。</a:t>
            </a:r>
            <a:endParaRPr lang="en-US" sz="15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から DIP へ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 Step 2 を、別の角度から読む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 Step 2 を、もう一度読む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から DIP 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前回は「テストで差し替えるため」に書きました。今日は「どちらが、どちらに合わせているか」で読みます。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2606040"/>
          </a:xfrm>
          <a:prstGeom prst="roundRect">
            <a:avLst>
              <a:gd name="adj" fmla="val 2105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application/ports.py ― 業務の側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508406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InvoiceRepository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...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...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281928" y="1828800"/>
            <a:ext cx="5340096" cy="2606040"/>
          </a:xfrm>
          <a:prstGeom prst="roundRect">
            <a:avLst>
              <a:gd name="adj" fmla="val 2105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3096" y="19385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infrastructure/sqlite_repo.py ― 本物の側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28600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SqliteInvoiceRepository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_db_path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save(self, order_id: str, total: int) -&gt; None: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_db_path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566928" y="4663440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80060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issue_invoice は sqlite3 を知りません。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230368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SqliteInvoiceRepository のほうが、業務の側が決めた形（save）に合わせに来ています。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していても、まだ DB を知っている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から DIP 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は「渡し方」の話でした。でも、渡すだけでは足りない場合があります。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400800" cy="2697480"/>
          </a:xfrm>
          <a:prstGeom prst="roundRect">
            <a:avLst>
              <a:gd name="adj" fmla="val 2034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はしている版（よくある書き方）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5998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DbConnection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DB の形をそのまま写した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DbConnection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db.execute("INSERT INTO invoices VALUES (?, ?)",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(order.order_id, total))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96328" y="1828800"/>
            <a:ext cx="4425696" cy="2697480"/>
          </a:xfrm>
          <a:prstGeom prst="roundRect">
            <a:avLst>
              <a:gd name="adj" fmla="val 203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70648" y="2057400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引数では渡している。でも…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470648" y="2560320"/>
            <a:ext cx="38770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テストで偽物も渡せる。DI はできています。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それでも業務ロジックが SQL とテーブル名を知っている。DB を替えたら、この関数も書き換えです。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66928" y="475488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75488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は「どう渡すか」。DIP は「誰が形を決めるか」。形を業務の側が決めて、初めて依存の向きが変わります。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 InvoiceRepository.save は、業務の側が決めた形でした。だから向きが変わっていた ― 次のページです。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形を業務が決めると、矢印がひっくり返る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から DIP 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矢印は「A が B を知っている（import している、形に合わせている）」の向きです。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前回の治療前</a:t>
            </a:r>
            <a:endParaRPr lang="en-US" sz="154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4480560" cy="685800"/>
          </a:xfrm>
          <a:prstGeom prst="roundRect">
            <a:avLst>
              <a:gd name="adj" fmla="val 8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31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issue_invoice（業務ルール）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3063240" y="3017520"/>
            <a:ext cx="0" cy="1051560"/>
          </a:xfrm>
          <a:prstGeom prst="line">
            <a:avLst/>
          </a:prstGeom>
          <a:noFill/>
          <a:ln w="28575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4069080"/>
            <a:ext cx="4480560" cy="685800"/>
          </a:xfrm>
          <a:prstGeom prst="roundRect">
            <a:avLst>
              <a:gd name="adj" fmla="val 8000"/>
            </a:avLst>
          </a:prstGeom>
          <a:solidFill>
            <a:srgbClr val="8C9BA8"/>
          </a:solidFill>
          <a:ln w="12700">
            <a:solidFill>
              <a:srgbClr val="8C9B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sqlite3 ／ requests（詳細）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業務ルールが、詳細の都合に引きずられる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前回の治療後</a:t>
            </a:r>
            <a:endParaRPr lang="en-US" sz="1540" dirty="0"/>
          </a:p>
        </p:txBody>
      </p:sp>
      <p:sp>
        <p:nvSpPr>
          <p:cNvPr id="15" name="Shape 13"/>
          <p:cNvSpPr/>
          <p:nvPr/>
        </p:nvSpPr>
        <p:spPr>
          <a:xfrm>
            <a:off x="6492240" y="233172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331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issue_invoice（業務ルール）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961120" y="3017520"/>
            <a:ext cx="0" cy="292608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92240" y="3310128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7F9FA"/>
          </a:solidFill>
          <a:ln w="25400">
            <a:solidFill>
              <a:srgbClr val="2E7D32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492240" y="3310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InvoiceRepository / Mailer（Protocol）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 flipV="1">
            <a:off x="8961120" y="3813048"/>
            <a:ext cx="0" cy="256032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406908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8C9BA8"/>
          </a:solidFill>
          <a:ln w="12700">
            <a:solidFill>
              <a:srgbClr val="8C9B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069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SqliteInvoiceRepository ／ HttpMailer（詳細）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6300216" y="4892040"/>
            <a:ext cx="5321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詳細の側から、上向きに矢印が伸びる ＝「逆転」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566928" y="539496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539496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DIP（依存性逆転の原則）：業務ルールは詳細に依存しない。どちらも抽象（Protocol）に依存する。</a:t>
            </a:r>
            <a:endParaRPr lang="en-US" sz="15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 は「使う側」が持つ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から DIP 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1つ目の問いの答えです。置き場所を間違えると、矢印は元に戻ります。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21808" cy="2514600"/>
          </a:xfrm>
          <a:prstGeom prst="roundRect">
            <a:avLst>
              <a:gd name="adj" fmla="val 2182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205740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本物の側（infrastructure）に置く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560320"/>
            <a:ext cx="4773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本物の都合でメソッドが決まる（insert_row、execute…）。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を替えると Protocol も変わり、業務ロジックまで巻き込まれる。矢印は元に戻ります。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300216" y="1828800"/>
            <a:ext cx="5321808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74536" y="205740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使う側（application）に置く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560320"/>
            <a:ext cx="4773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業務ロジックが「保存できればいい」「送れればいい」と、欲しい形を決める。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本物は、その形に合わせて作る。DB を替えても、業務の側は1行も変わらない。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11055096" cy="1097280"/>
          </a:xfrm>
          <a:prstGeom prst="roundRect">
            <a:avLst>
              <a:gd name="adj" fmla="val 5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4681728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置き場所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02920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InvoiceRepository, Mailer ← 形を決める側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sqlite_repo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SqliteInvoiceRepository ← 形に合わせる側</a:t>
            </a:r>
            <a:endParaRPr lang="en-US" sz="121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 の名前とメソッドは、業務の言葉で書く。save であって、insert_row ではない。</a:t>
            </a:r>
            <a:endParaRPr lang="en-US" sz="15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デモ：Protocol は「形」で合う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から DIP 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の Protocol は「形」で判定します。本物の側は、Protocol を知らなくていい。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49926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HttpMailer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Mailer を import も継承もしていない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FakeMailer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body を書き忘れた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HttpMailer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FakeMailer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190488" y="1828800"/>
            <a:ext cx="5431536" cy="2743200"/>
          </a:xfrm>
          <a:prstGeom prst="roundRect">
            <a:avLst>
              <a:gd name="adj" fmla="val 2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2860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pyrefly check app.py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Argument `FakeMailer` is not assignable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parameter `mailer` with type `Mailer`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function `issue_invoice` [bad-argument-type]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--&gt; app.py:23:15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`FakeMailer.send` has type `(to: str) -&gt; None`,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which is not assignable to `(to: str, body: str) -&gt; None`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INFO 1 error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800600"/>
            <a:ext cx="11055096" cy="109728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919472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HttpMailer は通り、FakeMailer だけが止まりました。どちらも Mailer を import していません。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34924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形で繋がるので、外側から内側への import すら最小限で済む。確かめるのは、第2回の Pyrefly です。</a:t>
            </a:r>
            <a:endParaRPr lang="en-US" sz="13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オニオンアーキテクチャ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業務ルールを中心に、外の世界を外側に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オニオンアーキテクチャってなに？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オニオンアーキテクチャ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2008年に Jeffrey Palermo が名付けた設計の形。名前は大げさですが、ルールは1つだけです。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1828800"/>
            <a:ext cx="10140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依存は、外から内へ。内側は、外側を知らない。</a:t>
            </a:r>
            <a:endParaRPr lang="en-US" sz="264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350215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33375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中心ほど、変わりにくい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840480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請求額の計算ルールは、DB を SQLite から別のものに替えても変わらない。だから中心に置く。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343400" y="3108960"/>
            <a:ext cx="350215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17720" y="33375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外側ほど、取り替えやすい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840480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 を別の DB に、メールをチャット通知に。外側の輪だけを差し替えれば済む。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119872" y="3108960"/>
            <a:ext cx="350215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94192" y="33375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兄弟がいる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3840480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クリーンアーキテクチャ、ヘキサゴナルアーキテクチャも、ほぼ同じ考え方。今日はオニオンの言葉だけ使います。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6692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前回の「依存を外に出す」を、コード全体の配置にまで広げたものです。</a:t>
            </a:r>
            <a:endParaRPr lang="en-US" sz="15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各層に、何を置くか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オニオンアーキテクチャ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今日の題材を、そのまま当てはめるとこうなります。</a:t>
            </a:r>
            <a:endParaRPr lang="en-US" sz="154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657600"/>
                <a:gridCol w="22768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層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置くもの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今日の題材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import してよい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domain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業務ルール。外の世界を知らない計算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calc_invoice, Campaign, Order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標準ライブラリだけ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application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業務の流れと、必要な部品の形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issue_invoice, InvoiceRepository, Mailer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domain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infrastructure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外の世界との接続。入口の門もここ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SqliteInvoiceRepository, HttpMailer, Settings, OrderIn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domain, application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main.py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組み立て。層ではない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main()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全部</a:t>
                      </a:r>
                      <a:endParaRPr lang="en-US" sz="132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56692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迷ったら「DB を替えたら、このコードは変わるか？」。変わるなら外側、変わらないなら内側です。</a:t>
            </a:r>
            <a:endParaRPr lang="en-US" sz="15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フォルダにすると、こう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オニオンアーキテクチャ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層＝フォルダ。どこに何を書くかが、パスを見れば分かります。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223760" cy="3931920"/>
          </a:xfrm>
          <a:prstGeom prst="roundRect">
            <a:avLst>
              <a:gd name="adj" fmla="val 1395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6821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billing/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68214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  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中心。何も知らない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Order（dataclass）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calc_invoice, Campaign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流れと、部品の形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InvoiceRepository, Mailer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外の世界との接続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sqlite_repo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SqliteInvoiceRepository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http_mailer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HttpMailer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Settings（pydantic-settings）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OrderIn（pydantic）</a:t>
            </a:r>
            <a:endParaRPr lang="en-US" sz="11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組み立て。全部を知っている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8019288" y="1828800"/>
            <a:ext cx="3602736" cy="3931920"/>
          </a:xfrm>
          <a:prstGeom prst="roundRect">
            <a:avLst>
              <a:gd name="adj" fmla="val 152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0574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utils/ は作らない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560320"/>
            <a:ext cx="30540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「どこにも属さないもの」の置き場を作ると、そこに何でも入ります。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本当に業務と無関係な小道具なら、domain に置いても誰も困りません。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置き場所に迷うコードは、たいてい2つの層の仕事を混ぜています。</a:t>
            </a:r>
            <a:endParaRPr lang="en-US" sz="13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pydantic は外側、dataclass は内側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オニオンアーキテクチャ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28ページ「内側なら dataclass でもいい」の、置き場所の答えです。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760720" cy="2743200"/>
          </a:xfrm>
          <a:prstGeom prst="roundRect">
            <a:avLst>
              <a:gd name="adj" fmla="val 2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infrastructure/order_in.py ― 門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53583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外から届いた形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to_domain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門を通ったら、業務の形に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to_domain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56248" y="1828800"/>
            <a:ext cx="5065776" cy="2743200"/>
          </a:xfrm>
          <a:prstGeom prst="roundRect">
            <a:avLst>
              <a:gd name="adj" fmla="val 2000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57416" y="1938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domain/order.py ― 業務の形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57416" y="22860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pydantic を知らない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566928" y="4800600"/>
            <a:ext cx="11055096" cy="109728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919472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domain は pydantic を import しません。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34924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取引先の JSON の形が変わっても、直すのは OrderIn と to_domain だけ。業務ルールは巻き込まれません。</a:t>
            </a:r>
            <a:endParaRPr lang="en-US" sz="13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どの層にも属さない、main.py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オニオンアーキテクチャ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前回の「組み立ては一番外側だけ」が、層の言葉でここになります。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406640" cy="3017520"/>
          </a:xfrm>
          <a:prstGeom prst="roundRect">
            <a:avLst>
              <a:gd name="adj" fmla="val 1818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billing/main.py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7004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HttpMailer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sqlite_repo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SqliteInvoiceRepository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SqliteInvoiceRepository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mail_api_url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issue_invoice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load_order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to_domain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02168" y="1828800"/>
            <a:ext cx="3419856" cy="3017520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76488" y="20574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コンポジションルート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476488" y="2560320"/>
            <a:ext cx="28712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全部の層を import してよい、唯一の場所。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ここだけは外側も内側も知っています。その代わり、ここに業務ルールは書かない。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12064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date.today() と Settings() が呼ばれるのも、ここだけです。</a:t>
            </a:r>
            <a:endParaRPr lang="en-US" sz="15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で向きを守る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図に描いた約束は、いつか破られる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図に描いただけでは、守られない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で向きを守る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修正のたびに「ついで」が入る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締め切り前、domain で直接 sqlite3 を開けば5分で済む。</a:t>
            </a:r>
            <a:endParaRPr lang="en-US" sz="13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その5分が、半年後の「テストに DB が要る」を作ります。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3400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エージェントは、図を見ていない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「動くように直して」と頼めば、一番近い場所に import を足します。</a:t>
            </a:r>
            <a:endParaRPr lang="en-US" sz="13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悪気はありません。知らないだけです。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19872" y="1664208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761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レビューで import を追えない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145536"/>
            <a:ext cx="3026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第1回の通り、人間がレビューで見なくていいことは機械に渡す。</a:t>
            </a:r>
            <a:endParaRPr lang="en-US" sz="13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依存の向きは、その代表です。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495544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だから、向きは ruff に守らせます。第1回の「静的チェックに渡す」の続きです。</a:t>
            </a:r>
            <a:endParaRPr lang="en-US" sz="15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層のフォルダに、ruff.toml を1枚置く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で向きを守る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は、ファイルごとに一番近い設定ファイルを使います。それを利用します。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040880" cy="3520440"/>
          </a:xfrm>
          <a:prstGeom prst="roundRect">
            <a:avLst>
              <a:gd name="adj" fmla="val 1558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663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billing/domain/ruff.toml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663854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"../../pyproject.toml"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親の設定を引き継ぐ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flake8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"billing.application"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"domain は一番内側。外側の層を知らない"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"billing.infrastructure"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"domain は一番内側。外側の層を知らない"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"sqlite3"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"domain は DB を知らない"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"requests"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"domain は外部 API を知らない"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"pydantic"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"domain は dataclass で書く。検査は外側の門で"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36408" y="1828800"/>
            <a:ext cx="3785616" cy="1508760"/>
          </a:xfrm>
          <a:prstGeom prst="roundRect">
            <a:avLst>
              <a:gd name="adj" fmla="val 3636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37576" y="19385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pyproject.toml（ルート）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37576" y="22860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"TID251"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7836408" y="3520440"/>
            <a:ext cx="3785616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110728" y="37490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書いているのは2つだけ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110728" y="4206240"/>
            <a:ext cx="3236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禁止する import の名前と、その理由。</a:t>
            </a:r>
            <a:endParaRPr lang="en-US" sz="126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TID251（banned-api）は、既定ではオフのルールです。</a:t>
            </a:r>
            <a:endParaRPr lang="en-US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57784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domain/ の中のファイルにだけ効きます。infrastructure/ で sqlite3 を使うのは、自由です。</a:t>
            </a:r>
            <a:endParaRPr lang="en-US" sz="15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デモ：domain に sqlite3 を足すと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で向きを守る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に「請求書を保存して」と頼んだら、こう書いてきた、という想定です。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billing/domain/invoice.py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49926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"prod.db"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invoices VALUES (?, ?)"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190488" y="1828800"/>
            <a:ext cx="5431536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28600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billing/domain/invoice.py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TID251 `sqlite3` is banned: domain は DB を知らない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--&gt; billing/domain/invoice.py:1:8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import sqlite3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^^^^^^^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error.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11512" y="44805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11512" y="44805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FAIL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50292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502920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理由まで日本語で出ます。「なぜダメか」を、レビューで毎回説明しなくていい。</a:t>
            </a:r>
            <a:endParaRPr lang="en-US" sz="15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時計も、環境変数も止められる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で向きを守る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banned-api は、import だけでなく「使った場所」で止めます。第3回の回収です。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billing/domain/pricing.py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49926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Campaign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applies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1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date.today() &lt;= self.end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190488" y="1828800"/>
            <a:ext cx="5431536" cy="2514600"/>
          </a:xfrm>
          <a:prstGeom prst="roundRect">
            <a:avLst>
              <a:gd name="adj" fmla="val 2182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ruff.toml に足す2行と、結果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28600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"datetime.date.today".msg = "今日の日付は引数で受け取る"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"os.environ".msg = "設定は Settings から受け取る"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billing/domain/pricing.py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TID251 `datetime.date.today` is banned: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今日の日付は引数で受け取る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error.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11055096" cy="1325880"/>
          </a:xfrm>
          <a:prstGeom prst="roundRect">
            <a:avLst>
              <a:gd name="adj" fmla="val 4138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709160"/>
            <a:ext cx="10506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第3回の「date.today() を引数に出す」「Settings() を作るのは main だけ」を、機械が守ってくれます。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413248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from datetime import date と書いて date.today() と呼んでも、ちゃんと止まります。</a:t>
            </a:r>
            <a:endParaRPr lang="en-US" sz="13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層ごとの禁止リストを、まとめると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で向きを守る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設定ファイルは2枚だけ。外側の層ほど、自由です。</a:t>
            </a:r>
            <a:endParaRPr lang="en-US" sz="154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760720"/>
                <a:gridCol w="346557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層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ruff.toml で禁止するもの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理由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domain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billing.application, billing.infrastructure, sqlite3, requests, pydantic, date.today, os.environ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一番内側。外の世界を何も知らない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application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billing.infrastructure, sqlite3, requests, date.today, os.environ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Protocol だけを知る。本物は main が渡す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infrastructure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5B67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置かない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外側。何を使ってもいい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main.py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5B67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置かない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全部を組み立てる場所</a:t>
                      </a:r>
                      <a:endParaRPr lang="en-US" sz="121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93776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1248" y="5029200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が見るのは、そのファイルに書かれた import だけ。それでも足ります。</a:t>
            </a:r>
            <a:endParaRPr lang="en-US" sz="154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458968"/>
            <a:ext cx="10506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内側の層はどれも外側を import できないので、内側から辿っても、外側には届かないからです。</a:t>
            </a:r>
            <a:endParaRPr lang="en-US" sz="13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限界と注意点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万能ではないので、先に自分から言っておきます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で守る方法の限界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限界と注意点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3502152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extend を忘れると、黙って効かなくなる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45536"/>
            <a:ext cx="3026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親の設定が消え、TID251 自体がオフになります。エラーも警告も出ません（下）。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4343400" y="1664208"/>
            <a:ext cx="3502152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見えない import がある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145536"/>
            <a:ext cx="3026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importlib や __import__ で、実行時に組み立てた import は見えません。書いてある import だけを見ます。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119872" y="1664208"/>
            <a:ext cx="3502152" cy="2514600"/>
          </a:xfrm>
          <a:prstGeom prst="roundRect">
            <a:avLst>
              <a:gd name="adj" fmla="val 2182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761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459736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noqa: TID251 で黙る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145536"/>
            <a:ext cx="3026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第2回の # type: ignore と同じ逃げ道。付けたまま忘れます。ときどき grep して見直す。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566928" y="4389120"/>
            <a:ext cx="11055096" cy="1325880"/>
          </a:xfrm>
          <a:prstGeom prst="roundRect">
            <a:avLst>
              <a:gd name="adj" fmla="val 4138"/>
            </a:avLst>
          </a:prstGeom>
          <a:solidFill>
            <a:srgbClr val="1E2A34"/>
          </a:solidFill>
          <a:ln w="12700">
            <a:solidFill>
              <a:srgbClr val="1E2A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4498848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domain/ruff.toml の extend 行を消して、同じコードを検査すると（実測）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484632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billing/domain/pricing.py</a:t>
            </a:r>
            <a:endParaRPr lang="en-US" sz="121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21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1番は特に怖い。赤が出ないのは、守れているからではなく、見ていないからかもしれません。</a:t>
            </a:r>
            <a:endParaRPr lang="en-US" sz="15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用法・用量を守ってください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限界と注意点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層を覚えたてだと、全部を分けたくなります。それはそれで、別の病気です。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11680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8745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小さなコードに層は要らない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240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使い捨てのスクリプトや、数百行のツールに4層は過剰。困ってから分ければ間に合う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566928" y="2770632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99923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8620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Java の真似をしない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2278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クラスごとに interface、層ごとに DTO の詰め替え。Python では、Protocol は外に繋がるところだけ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566928" y="3758184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98678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8496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フォルダを切っただけでは、設計にならない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21538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domain/ に import sqlite3 があれば、名前だけの層。ruff で落ちて初めて、層になる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566928" y="4745736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974336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4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8371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最初から全部の層に ruff.toml を置かない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029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 domain に1枚、sqlite3 と requests だけ。慣れたら application にも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85216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一番多い失敗は2番です。層やクラスが増えるほど偉い、ということはありません。</a:t>
            </a:r>
            <a:endParaRPr lang="en-US" sz="15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何に層を作って、誰のために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全部に使わなくていい。長く触るコードだけ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何に層を作って、何に作らないか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何に層を作って、誰のために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全部やろうとすると挫折します。最初は割り切って構いません。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5321808" cy="3291840"/>
          </a:xfrm>
          <a:prstGeom prst="roundRect">
            <a:avLst>
              <a:gd name="adj" fmla="val 1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219456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まず層を分ける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743200"/>
            <a:ext cx="4773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長く使い続ける業務システム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複数人や AI が触るコード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テストしたい業務ルールがある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 や外部 API を替える可能性がある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第3回の DI をもう入れたコード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6300216" y="1965960"/>
            <a:ext cx="5321808" cy="3291840"/>
          </a:xfrm>
          <a:prstGeom prst="roundRect">
            <a:avLst>
              <a:gd name="adj" fmla="val 166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74536" y="219456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今は分けなくていい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743200"/>
            <a:ext cx="4773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使い捨てのスクリプト、調査用のコード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一人で数日で終わるツール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業務ルールがほぼなく、DB を出し入れするだけ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フレームワークが構造を決めているところ</a:t>
            </a:r>
            <a:endParaRPr lang="en-US" sz="143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まだ1回も困っていないコード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53212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迷ったら「DB を替えたら、どこまで書き換えるか」で決める。全部なら、分ける価値があります。</a:t>
            </a:r>
            <a:endParaRPr lang="en-US" sz="15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層は、結局だれのために分けるのか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何に層を作って、誰のために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5321808" cy="3611880"/>
          </a:xfrm>
          <a:prstGeom prst="roundRect">
            <a:avLst>
              <a:gd name="adj" fmla="val 1519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892808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AI エージェントのため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31720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置き場所に、迷わなくなる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80360"/>
            <a:ext cx="47731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domain に sqlite3 を足すと、ruff が理由つきで落とす。エージェントはそれを読んで、Protocol 越しに書き直す。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第1回からの「赤なら直して、もう一度」が、設計の話にまで届きます。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300216" y="1664208"/>
            <a:ext cx="5321808" cy="3611880"/>
          </a:xfrm>
          <a:prstGeom prst="roundRect">
            <a:avLst>
              <a:gd name="adj" fmla="val 1519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74536" y="1892808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半年後のチームのため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331720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構造が、崩れなくなる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880360"/>
            <a:ext cx="47731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新しく入った人が、どこに何を書くかをフォルダで分かる。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崩そうとしたら、レビューの前に ruff が止める。「最初はきれいだったんですけど」が減ります。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57784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層は、コードを速くしません。コードを「崩れにくく」します。</a:t>
            </a:r>
            <a:endParaRPr lang="en-US" sz="15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4回で、何が揃ったか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何に層を作って、誰のために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59736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第1回：壊していないこと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72968"/>
            <a:ext cx="213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ゴールデンマスターと ruff。今と同じ結果か、形が崩れていないか。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3383280" y="1664208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102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459736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第2回：入ってくるもの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3172968"/>
            <a:ext cx="213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Pyrefly と pydantic。入口に門を立てる。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6199632" y="1664208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737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459736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第3回：外に繋がっているもの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172968"/>
            <a:ext cx="213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 と pydantic-settings。偽物と本物を差し替える。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9015984" y="1664208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53728" y="1901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5372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40" dirty="0"/>
          </a:p>
        </p:txBody>
      </p:sp>
      <p:sp>
        <p:nvSpPr>
          <p:cNvPr id="24" name="Text 22"/>
          <p:cNvSpPr txBox="1"/>
          <p:nvPr/>
        </p:nvSpPr>
        <p:spPr>
          <a:xfrm>
            <a:off x="9253728" y="2459736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第4回：依存の向き</a:t>
            </a:r>
            <a:endParaRPr lang="en-US" sz="1540" dirty="0"/>
          </a:p>
        </p:txBody>
      </p:sp>
      <p:sp>
        <p:nvSpPr>
          <p:cNvPr id="25" name="Text 23"/>
          <p:cNvSpPr txBox="1"/>
          <p:nvPr/>
        </p:nvSpPr>
        <p:spPr>
          <a:xfrm>
            <a:off x="9253728" y="3172968"/>
            <a:ext cx="213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DIP とオニオン、そして ruff。向きを崩させない。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566928" y="475488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E6F4E7"/>
          </a:solidFill>
          <a:ln w="12700">
            <a:solidFill>
              <a:srgbClr val="E6F4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475488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どれも「人が目で確かめていたことを、機械が落とせる形にする」話でした。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人間は、確かめる作業から、基準を決めることへ ― 第1回の最後のページと同じです。</a:t>
            </a:r>
            <a:endParaRPr lang="en-US" sz="13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5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業務ロジックのフォルダに、</a:t>
            </a:r>
            <a:endParaRPr lang="en-US" sz="1760" dirty="0"/>
          </a:p>
        </p:txBody>
      </p:sp>
      <p:sp>
        <p:nvSpPr>
          <p:cNvPr id="7" name="Shape 5"/>
          <p:cNvSpPr/>
          <p:nvPr/>
        </p:nvSpPr>
        <p:spPr>
          <a:xfrm>
            <a:off x="566928" y="2029968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2029968"/>
            <a:ext cx="10140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ruff.toml を1枚置いて、sqlite3 と requests を禁止する</a:t>
            </a:r>
            <a:endParaRPr lang="en-US" sz="2640" dirty="0"/>
          </a:p>
        </p:txBody>
      </p:sp>
      <p:sp>
        <p:nvSpPr>
          <p:cNvPr id="9" name="Shape 7"/>
          <p:cNvSpPr/>
          <p:nvPr/>
        </p:nvSpPr>
        <p:spPr>
          <a:xfrm>
            <a:off x="566928" y="3310128"/>
            <a:ext cx="5321808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353872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これだけで十分な理由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041648"/>
            <a:ext cx="4773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コードは1行も変えなくていい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今ある違反が一覧になる ― それが今のカルテ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既存の違反は ruff check --add-noqa で棚上げできる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新しい違反は、もう増えない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300216" y="3310128"/>
            <a:ext cx="5321808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  <a:effectLst>
            <a:outerShdw sx="100000" sy="100000" kx="0" ky="0" algn="bl" rotWithShape="0" blurRad="38100" dist="1524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74536" y="353872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4041648"/>
            <a:ext cx="4773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違反が多すぎる＝分け方がまだ早い合図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どこを domain にするか、一緒に見ます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 の名前と置き場所も相談してください</a:t>
            </a:r>
            <a:endParaRPr lang="en-US" sz="132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一人で全部やろうとしないでください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持ち帰るのは1つだけで構いません。</a:t>
            </a:r>
            <a:endParaRPr lang="en-US" sz="13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決めごとは、落ちるチェックにして残す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2240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6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図に描いた層は、締め切りと修正の積み重ねで、少しずつ崩れていきます。</a:t>
            </a:r>
            <a:endParaRPr lang="en-US" sz="176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6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誰が悪いわけでもありません。守る仕組みがなかっただけです。</a:t>
            </a:r>
            <a:endParaRPr lang="en-US" sz="1760" dirty="0"/>
          </a:p>
        </p:txBody>
      </p:sp>
      <p:sp>
        <p:nvSpPr>
          <p:cNvPr id="4" name="Shape 2"/>
          <p:cNvSpPr/>
          <p:nvPr/>
        </p:nvSpPr>
        <p:spPr>
          <a:xfrm>
            <a:off x="841248" y="3611880"/>
            <a:ext cx="10515600" cy="2103120"/>
          </a:xfrm>
          <a:prstGeom prst="roundRect">
            <a:avLst>
              <a:gd name="adj" fmla="val 2609"/>
            </a:avLst>
          </a:prstGeom>
          <a:solidFill>
            <a:srgbClr val="2A3946"/>
          </a:solidFill>
          <a:ln w="12700">
            <a:solidFill>
              <a:srgbClr val="2A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07008" y="3840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向きを守るのは、人の注意力ではなく ruff。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8FD6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人間は「どこを内側にするか」を決めることに集中する。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49834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依存は悪ではない（第3回）。向きを決めて、それを機械に守らせれば、依存は依存以上の影響を持ちません。</a:t>
            </a:r>
            <a:endParaRPr lang="en-US" sz="13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9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566928" y="147218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417320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Protocol は、使う側が持つ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56232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業務が欲しい形を決め、本物が合わせに来る。矢印が逆転する ― これが DIP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322576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依存は、外から内へ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761488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中心に業務ルール、外側に DB・メール・門 ― オニオンアーキテクチャ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566928" y="3282696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227832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pydantic は外側、dataclass は内側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666744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門を通ったら、業務の形に変える。組み立ては main だけ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66928" y="4187952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133088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向きは ruff に守らせる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572000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層ごとの ruff.toml と banned-api。時計や環境変数も止められる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566928" y="5093208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5093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5038344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ただし、extend を忘れると黙る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5477256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赤が出ないのは、見ていないからかもしれない。一度わざと落として確かめる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035040"/>
            <a:ext cx="11055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　― 質問をどうぞ</a:t>
            </a:r>
            <a:endParaRPr lang="en-US" sz="1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第4回 依存の向きを守る</dc:title>
  <dc:subject>PptxGenJS Presentation</dc:subject>
  <dc:creator>PptxGenJS</dc:creator>
  <cp:lastModifiedBy>PptxGenJS</cp:lastModifiedBy>
  <cp:revision>1</cp:revision>
  <dcterms:created xsi:type="dcterms:W3CDTF">2026-10-21T16:14:12Z</dcterms:created>
  <dcterms:modified xsi:type="dcterms:W3CDTF">2026-10-21T16:14:12Z</dcterms:modified>
</cp:coreProperties>
</file>