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第3回です。前回までと同じく、手を動かす演習はありません。画面で実物を見せながら進めます。
題材も前回までと同じ請求計算のコード。前回出ていない人でも分かるように作ってあります。
ゴールは『明日、関数の中の date.today() を1つ、引数に出してみよう』と思ってもらうこと。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3章が今日の中心です。ここだけ持って帰ってもらえれば成功。
4章の設定の話は、3章の応用です。第2回の pydantic がもう一度出てきます。
演習はないので、気になったところは遠慮なく途中で止めてください。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ここは共感を取るパート。最初の1枚は少しふざけた入り方をします。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つかみのスライド。依存症というと悪いイメージですよね、と一度振る。
『悪の依存症』と言っておきますが、最後に『依存そのものは悪ではない』というオチがあります。ここでは含みを持たせておくだけ。
第1回・第2回に出ていない人向けに、それぞれ何を倒したかを1行で言う。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前回参加していない人のために、それぞれの結論を1行で言う。
第1回『テストが書けないコードには、書けない理由がある』。第2回『内側は Pyrefly、境界は pydantic』。
今日は3回目、『外に繋がっているもの』の回です。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『1つでも当てはまる人？』と手を挙げてもらってもいい。
3つとも『関数の中で勝手に外の世界を掴んでいる』に還元できる、という振りをしてから次へ。
3番目は経験者に刺さる。patch は『定義された場所』ではなく『使われている場所』を指定しないと効かない、という罠。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ここが今日いちばん伝えたいこと。
依存をなくす話ではありません。依存を『見える場所に出して、取り替えられるようにする』話です。
DI という言葉に身構える人が多いので、『引数で渡すだけ』と最初に言い切る。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第2回の『境界と内側』の地図を、右側に延長したもの。各章の頭で口頭で参照する。
入口の門は『入ってくるデータを検査する』、出口の門は『出ていく先を差し替えられるようにする』。
時計を『出ていく先』に入れているのは、実行のたびに値が変わる＝外の世界の一部だから。
設計の言葉ではヘキサゴナルアーキテクチャ（ポートとアダプタ）と呼ばれる形ですが、名前は覚えなくていい。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デモあり。テストを書こうとして、書けないところを見せます。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前回までの基準なら、それほど悪くないコードです。
OrderIn は第2回で作ったモデルに、order_id と email を足したもの、と一言添える。
少し間を取って『この関数のテスト、どう書きますか』と問いかける。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デモ①: 自分の PC では通る、を見せる。そのあと DB ファイルの無いフォルダ（または CI）で同じテストを走らせて落とす。
※ エラーメッセージは本番前に自分の環境で実行して差し替えること。
一番怖いのは『通ったとき』のほう。本番 DB に書き込み、本物のメールを送っている。
ここで『〇〇がないと動かせない』『環境で動きが異なる』の両方が出揃う。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赤い3行が『隠れた依存』。これが今日の病気の正体です。
第1回の ruff も、第2回の Pyrefly も、この3行には何も言いません。書き方としては正しいから。
問題は書き方ではなく、依存の持ち方。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今日いちばん大事な整理です。
依存を無くそうとする必要はありません。問題は、依存が見えないこと、そして取り替えられないこと。
この2つを治せば、依存は『依存以上の影響』を持たなくなります（最後にもう一度言います）。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デモあり。ここが今日の山場。
DI を『難しい設計手法』として教えない。『引数で渡すだけ』として教える。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という言葉より、例えで掴んでもらう。
DI コンテナなどのフレームワークは要りません。Python なら引数で十分。
『渡す』の中身は次のページから、4ステップで見せます。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緑の3行が、外から渡すようになったもの。
関数の中から sqlite3 と requests が消えたことに注目してもらう。業務ロジックが詳細から解放された。
InvoiceRepository と Mailer が何者かは、次のページ。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デモ②: FakeMailer の send から引数を1つ消して、pyrefly check を打つ。
※ エラー文言は本番前に自分の環境で実行して差し替えること。
差し替え用の部品を作るとき、メソッド名や引数を間違えると Pyrefly が教えてくれる。型があるから、安心して取り替えられる。
Protocol は typing の標準機能。pydantic 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デモ③: 実行して 1 passed を見せる。DB もネットワークも無い状態で通ることを強調。
Fake は保存・送信の『記録』を残すだけ。保存したか、誰に送ったかを、普通の assert で確かめられる。
『〇〇がないと動かせない』が、ここで治りました。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デモ④: 実行して 2 passed。
第1回で『境界値 = 条件分岐に出てくる数字そのもの』と言いました。日付も同じ。&lt;= の右辺の日付と、その翌日。
ゴールデンマスターも、today を固定の日付で渡せば毎回同じ結果になる。第1回 30ページ『時刻・DB は固定が要る』の答えがこれ。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SqliteInvoiceRepository と HttpMailer の中身は、元のコードの sqlite3 と requests の部分を移しただけ。
部品を組み立てて配線する場所を『コンポジションルート』と呼びます。名前は覚えなくていい。
赤い2行 ― 環境で変わる値が直書き。『環境で動きが異なる』はまだ治っていない。4章へ。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ここまでのまとめ。治療前の列は、全部『心当たり』のページの症状です。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3段目がいちばん使える。既存の呼び出し元を変えずに、テストからだけ日付を渡せるようになる。
時計のような単純な値なら、ここまでで十分テストできる。DB や外部 API は4段目で Protocol にする。
2段目の grep で見つかった箇所が、そのままリファクタリングの候補リストになる。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デモあり。第2回の pydantic がもう一度出てきます。
『設定ファイルも外から来るデータ』という1点だけ押さえれば、あとは第2回と同じ。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環境変数は全部 str で来る。型の保証はゼロ。第2回で json.loads が Unknown を返したのと同じ状況。
一番やっかいなのは『途中で落ちる』こと。中途半端な状態が残る。
関数の奥で os.environ を読んでいると、『自分の PC では動く』の原因があちこちに散らばる。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db_path は DB_PATH、mail_api_url は MAIL_API_URL を読む。
frozen=True で、読み込んだあとの書き換えを禁止する。設定は『値』として扱う。
.env のプレフィックス、ネスト、SecretStr などは今日は扱わない。聞かれたら答える。
Path は pathlib から import（スライドでは省略）。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デモ⑤: 壊れた .env で main.py を起動して、ValidationError を出す。
※ エラー文言は本番前に自分の環境で実行して差し替えること。
前のページの KeyError（途中で落ちる）と比べる。同じ設定ミスでも、気づく時刻が『起動した瞬間』に前倒しになった。第2回の結論と同じ構造。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区別すべきは『作る』と『使う』。
Settings() を作る処理は環境変数を読むので、外の世界に触っている。関数の中で Settings() を呼ぶのは os.environ を読むのと同じ。
できあがった settings は frozen の検証済みの値。引数で渡して使うのは全く問題ない。信頼して使ってよい。
ダメなのはグローバルに置いて import すること。依存が隠れる＝今日の病気そのもの。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使わない層を素通りして運ばれるデータは『トランプデータ』と呼ばれます。
引き回しが起きるのは、途中の層が部品を自分で new しているから。作るから材料が要り、材料を受け取るために上から引き回す。
今日のテーマ『中で自分で調達している』の変形なので、組み立てを main に寄せれば自然に治る。
業務パラメータ（キャンペーン期限、送信上限など）は、使うサービスのコンストラクタで受け取る。3〜4個を超えたら、業務側で dataclass（例：CampaignPolicy）に束ね、Settings からの詰め替えは main がやる。
Settings 型そのものを業務ロジックに渡さないほうがいい。Settings は『環境変数の形』、業務ロジックは『業務の形』で受け取る。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前回までと同じ構造。限界を自分で言うかどうかで、講習の信頼度が変わる。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1番目が一番大事。偽物で全部緑でも、本番で SQL が落ちることはある。
本物の部品のテストは数を絞って、本物（テスト用の DB ファイルなど）で確かめる。業務ロジックのテストは偽物で大量に。役割分担。
2番目は第1回の ruff の話と繋がる。引数が増えるのは DI のせいではなく、もともと責務が多かったのが見えるようになっただけ。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4番目は経験者向け。mock.patch が悪いわけではないが、『差し替えたいのに差し替える口がない』状態を patch で誤魔化すと、依存は隠れたまま残る。
既存コードでどうしても引数に出せないときの一時しのぎとしては 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前回までの『何をテストするか』『何に型をつけるか』と同じ役割の章。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左の列は全部、今日の地図の『出ていく先』と『入ってくるもの』。右の列は全部『内側』。
地図に戻ると判断しやすい、と伝える。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ここは自分の意見として話す。『こう思っています』と主語を自分にする。
第1回・第2回の『誰のために』の続き。3回分を並べると、全部『機械が合否を判定できる範囲を広げる』話になっている。
Codex を使っている人には『エージェントにテストを回させたら、DB に繋がらなくて止まったことは？』と振ると早い。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時間が押していたら飛ばしてよいページ。
ポイントは、Protocol を業務ルールの側が持つこと。すると詳細の側が業務ルールの決めた形に合わせに来るので、下の矢印が上向きになる。これが『逆転』。
Step 2 で ports.py に Protocol を書いた時点で、もう DIP を実践している。
第2回の dataclass の話と同じで、『業務が欲しい形を決め、外がそれに合わせる』という向き。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持ち帰りは1つだけに絞る。あれもこれも言うと何も残らない。
時計がいちばん簡単で、効果がすぐ見える。DB や外部 API より先にこれ。
※ 相談先として自分の名前・連絡手段をここで明示する。ここが実際の導入率を左右します。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冒頭の『悪の依存症』の回収。
依存を断つのではなく、依存とうまく付き合う。依存を見える場所に出して、取り替えられるようにすれば、依存は依存以上の影響を持たなくなる。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質問が出なければ『今いちばん、テストのために本番に繋いでいるコードはどれですか』と振ると話が始まります。
3回で1セット：1回目は『壊していないこと』、2回目は『入ってくるもの』、3回目は『外に繋がっているもの』。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" y="2276856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外に繋がるコードの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136392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依存症の治し方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4215384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6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 時刻・DB・外部システムを、どう切り離すか ―</a:t>
            </a:r>
            <a:endParaRPr lang="en-US" sz="176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48920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 / DI と pydantic-settings</a:t>
            </a:r>
            <a:endParaRPr lang="en-US" sz="1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</a:t>
            </a:r>
            <a:endParaRPr lang="en-US" sz="308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4996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5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14996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21854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1854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依存症を診断する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253728" y="2276856"/>
            <a:ext cx="1645920" cy="393192"/>
          </a:xfrm>
          <a:prstGeom prst="roundRect">
            <a:avLst>
              <a:gd name="adj" fmla="val 13953"/>
            </a:avLst>
          </a:prstGeom>
          <a:solidFill>
            <a:srgbClr val="E6F4E7"/>
          </a:solidFill>
          <a:ln w="12700">
            <a:solidFill>
              <a:srgbClr val="E6F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53728" y="2276856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25496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12648" y="28712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069848" y="28712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外から渡す ― DI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253728" y="2962656"/>
            <a:ext cx="1645920" cy="393192"/>
          </a:xfrm>
          <a:prstGeom prst="roundRect">
            <a:avLst>
              <a:gd name="adj" fmla="val 139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53728" y="2962656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今日の山場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" y="35570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" y="35570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設定も外の世界 ― pydantic-settings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253728" y="3648456"/>
            <a:ext cx="1645920" cy="393192"/>
          </a:xfrm>
          <a:prstGeom prst="roundRect">
            <a:avLst>
              <a:gd name="adj" fmla="val 13953"/>
            </a:avLst>
          </a:prstGeom>
          <a:solidFill>
            <a:srgbClr val="E6F4E7"/>
          </a:solidFill>
          <a:ln w="12700">
            <a:solidFill>
              <a:srgbClr val="E6F4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53728" y="3648456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" y="42428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" y="42428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限界と注意点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612648" y="49286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1069848" y="49286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何を注入して、誰のために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56144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069848" y="56144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明日からの一歩 / Q&amp;A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依存症の話から始めます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皆さんは、依存症について知っていますか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アルコール、タバコ、違法薬物、ギャンブル ― 依存症は、たいてい「悪」の文脈で語られます。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1055096" cy="118872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24128" y="1874520"/>
            <a:ext cx="10140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今日も例外に漏れず、</a:t>
            </a:r>
            <a:pPr indent="0" marL="0">
              <a:buNone/>
            </a:pPr>
            <a:r>
              <a:rPr lang="en-US" sz="26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悪の依存症</a:t>
            </a:r>
            <a:pPr indent="0" marL="0">
              <a:buNone/>
            </a:pPr>
            <a:r>
              <a:rPr lang="en-US" sz="26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についてお話しします。</a:t>
            </a:r>
            <a:endParaRPr lang="en-US" sz="2640" dirty="0"/>
          </a:p>
        </p:txBody>
      </p:sp>
      <p:sp>
        <p:nvSpPr>
          <p:cNvPr id="9" name="Shape 7"/>
          <p:cNvSpPr/>
          <p:nvPr/>
        </p:nvSpPr>
        <p:spPr>
          <a:xfrm>
            <a:off x="566928" y="3291840"/>
            <a:ext cx="3502152" cy="1965960"/>
          </a:xfrm>
          <a:prstGeom prst="roundRect">
            <a:avLst>
              <a:gd name="adj" fmla="val 2791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" y="35204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第1回で滅ぼした悪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023360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触ると壊れそうで、触れない構造。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とゴールデンマスターで守りながら分割した。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343400" y="3291840"/>
            <a:ext cx="3502152" cy="1965960"/>
          </a:xfrm>
          <a:prstGeom prst="roundRect">
            <a:avLst>
              <a:gd name="adj" fmla="val 2791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17720" y="35204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第2回で滅ぼした悪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023360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何が入ってくるか分からないデータ。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Pyrefly と pydantic で、入口に門を立てた。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119872" y="3291840"/>
            <a:ext cx="3502152" cy="1965960"/>
          </a:xfrm>
          <a:prstGeom prst="roundRect">
            <a:avLst>
              <a:gd name="adj" fmla="val 279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94192" y="35204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まだ残っている悪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4023360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「〇〇がないと動かせない」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「〇〇と〇〇の環境で、動きが異なる」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53212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今日は、これらに引導を渡します。</a:t>
            </a:r>
            <a:endParaRPr lang="en-US" sz="15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前回までに、宿題を2つ残しています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2回続けて「これは次回」と言って、そのままにしている話があります。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321808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11226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6700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第1回：毎回変わるものは、固定が要る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355848"/>
            <a:ext cx="4846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ゴールデンマスターの注意点で「時刻・乱数・DB の中身は、テスト時だけ固定する仕組みが別途必要」と言って、仕組みの話はしませんでした。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300216" y="1874520"/>
            <a:ext cx="5321808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211226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6700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第2回：型では解決しないものが残った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355848"/>
            <a:ext cx="4846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型は「何が入ってくるか」を決めましたが、時刻・DB・外部システムは型では切り離せない、と次回に回しました。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66928" y="4434840"/>
            <a:ext cx="11055096" cy="1143000"/>
          </a:xfrm>
          <a:prstGeom prst="roundRect">
            <a:avLst>
              <a:gd name="adj" fmla="val 48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4544568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第2回の最後のページから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89204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E6ED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1回目は「壊していないこと」、2回目は「入ってくるもの」。3回目は「外に繋がっているもの」。</a:t>
            </a:r>
            <a:endParaRPr lang="en-US" sz="154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今日はこの2つを回収します。題材も前回までと同じ、請求計算のコードです。</a:t>
            </a:r>
            <a:endParaRPr lang="en-US" sz="15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心当たり、ありませんか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テストを動かすのに、DB やネットワークが要る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145536"/>
            <a:ext cx="3026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 PC では通る。CI や他の人の PC では落ちる。</a:t>
            </a:r>
            <a:endParaRPr lang="en-US" sz="13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結局、手で動かして確認している。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343400" y="1664208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1144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1144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4581144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日付が変わると、テストが落ちる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3145536"/>
            <a:ext cx="3026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キャンペーン期間が終わった翌朝、何も触っていないのにテストが赤くなっていた。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119872" y="1664208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5761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テストが mock.patch だらけ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3145536"/>
            <a:ext cx="3026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差し替える場所を文字列で書く。import の書き方を変えたら差し替えが効かず、本物が呼ばれていた。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495544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3つとも「必要なものを、関数が自分で取りに行っている」ことから来ています。</a:t>
            </a:r>
            <a:endParaRPr lang="en-US" sz="15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今日の結論を先に言います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1055096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24128" y="2011680"/>
            <a:ext cx="10140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6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依存しているのが、悪いのではない</a:t>
            </a:r>
            <a:endParaRPr lang="en-US" sz="286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615184"/>
            <a:ext cx="10140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6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依存が「隠れていて、差し替えられない」のが悪い</a:t>
            </a:r>
            <a:endParaRPr lang="en-US" sz="28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913632"/>
            <a:ext cx="11055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6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そして、必要なものは自分で取りに行かず、外から渡してもらう ― これが DI</a:t>
            </a:r>
            <a:endParaRPr lang="en-US" sz="176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6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環境で変わる設定も「外の世界」。入口で1回だけ読む ― これが pydantic-settings</a:t>
            </a:r>
            <a:endParaRPr lang="en-US" sz="176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6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テストでは偽物を、本番では本物を渡す。業務ロジックは、どちらが来たかを知らない</a:t>
            </a:r>
            <a:endParaRPr lang="en-US" sz="176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85216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やることは「引数で渡す」だけです。フレームワークは使いません。</a:t>
            </a:r>
            <a:endParaRPr lang="en-US" sz="15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今日の地図 ― 入口と出口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第2回の地図に、出口を書き足しました。迷ったら、この1枚に戻ってください。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2057400" cy="29718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4088" y="22402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入ってくるもの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301752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JSON / CSV / Web API</a:t>
            </a:r>
            <a:endParaRPr lang="en-US" sz="121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環境変数 / .env</a:t>
            </a:r>
            <a:endParaRPr lang="en-US" sz="1210" dirty="0"/>
          </a:p>
          <a:p>
            <a:pPr algn="l" indent="0" marL="0">
              <a:lnSpc>
                <a:spcPct val="115000"/>
              </a:lnSpc>
              <a:buNone/>
            </a:pPr>
            <a:endParaRPr lang="en-US" sz="121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型の保証は、いっさいない。</a:t>
            </a:r>
            <a:endParaRPr lang="en-US" sz="1210" dirty="0"/>
          </a:p>
        </p:txBody>
      </p:sp>
      <p:sp>
        <p:nvSpPr>
          <p:cNvPr id="10" name="Text 8"/>
          <p:cNvSpPr txBox="1"/>
          <p:nvPr/>
        </p:nvSpPr>
        <p:spPr>
          <a:xfrm>
            <a:off x="2624328" y="3291840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2871216" y="1965960"/>
            <a:ext cx="1508760" cy="2971800"/>
          </a:xfrm>
          <a:prstGeom prst="roundRect">
            <a:avLst>
              <a:gd name="adj" fmla="val 363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008376" y="22402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入口の門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3008376" y="3017520"/>
            <a:ext cx="1234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pydantic</a:t>
            </a:r>
            <a:endParaRPr lang="en-US" sz="121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pydantic-settings</a:t>
            </a:r>
            <a:endParaRPr lang="en-US" sz="121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21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検査して、型のついた値に変える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2871216" y="50109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第2回＋今日</a:t>
            </a:r>
            <a:endParaRPr lang="en-US" sz="1210" dirty="0"/>
          </a:p>
        </p:txBody>
      </p:sp>
      <p:sp>
        <p:nvSpPr>
          <p:cNvPr id="15" name="Text 13"/>
          <p:cNvSpPr txBox="1"/>
          <p:nvPr/>
        </p:nvSpPr>
        <p:spPr>
          <a:xfrm>
            <a:off x="4379976" y="3291840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4626864" y="1965960"/>
            <a:ext cx="2852928" cy="2971800"/>
          </a:xfrm>
          <a:prstGeom prst="roundRect">
            <a:avLst>
              <a:gd name="adj" fmla="val 192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64024" y="224028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内側 ― 業務ロジック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3017520"/>
            <a:ext cx="2578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請求額を決める。キャンペーンを当てる。</a:t>
            </a:r>
            <a:endParaRPr lang="en-US" sz="1210" dirty="0"/>
          </a:p>
          <a:p>
            <a:pPr algn="l" indent="0" marL="0">
              <a:lnSpc>
                <a:spcPct val="115000"/>
              </a:lnSpc>
              <a:buNone/>
            </a:pPr>
            <a:endParaRPr lang="en-US" sz="121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外の世界のことは知らない。</a:t>
            </a:r>
            <a:endParaRPr lang="en-US" sz="121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だから、どこでもテストできる。</a:t>
            </a:r>
            <a:endParaRPr lang="en-US" sz="1210" dirty="0"/>
          </a:p>
        </p:txBody>
      </p:sp>
      <p:sp>
        <p:nvSpPr>
          <p:cNvPr id="19" name="Text 17"/>
          <p:cNvSpPr txBox="1"/>
          <p:nvPr/>
        </p:nvSpPr>
        <p:spPr>
          <a:xfrm>
            <a:off x="7479792" y="3291840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7726680" y="1965960"/>
            <a:ext cx="1508760" cy="2971800"/>
          </a:xfrm>
          <a:prstGeom prst="roundRect">
            <a:avLst>
              <a:gd name="adj" fmla="val 363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863840" y="22402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出口の門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017520"/>
            <a:ext cx="1234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Protocol</a:t>
            </a:r>
            <a:endParaRPr lang="en-US" sz="121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21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差し替えられる口。テストでは偽物、本番では本物</a:t>
            </a:r>
            <a:endParaRPr lang="en-US" sz="121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50109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</a:t>
            </a:r>
            <a:endParaRPr lang="en-US" sz="121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3291840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9482328" y="1965960"/>
            <a:ext cx="2057400" cy="29718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619488" y="22402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出ていく先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9619488" y="301752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 / ファイル</a:t>
            </a:r>
            <a:endParaRPr lang="en-US" sz="121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 / 外部 API</a:t>
            </a:r>
            <a:endParaRPr lang="en-US" sz="121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時計</a:t>
            </a:r>
            <a:endParaRPr lang="en-US" sz="1210" dirty="0"/>
          </a:p>
          <a:p>
            <a:pPr algn="l" indent="0" marL="0">
              <a:lnSpc>
                <a:spcPct val="115000"/>
              </a:lnSpc>
              <a:buNone/>
            </a:pPr>
            <a:endParaRPr lang="en-US" sz="121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実行のたびに、結果が変わる。</a:t>
            </a:r>
            <a:endParaRPr lang="en-US" sz="121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53212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第2回は入口に門を立てました。今日は出口に門を立てます。</a:t>
            </a:r>
            <a:endParaRPr lang="en-US" sz="15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依存症を診断する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一見ふつうのコードに、隠れた依存がある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患者のコード：請求書を発行する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依存症を診断する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請求額を計算して、DB に保存して、メールで送る関数です。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7498080" cy="3794760"/>
          </a:xfrm>
          <a:prstGeom prst="roundRect">
            <a:avLst>
              <a:gd name="adj" fmla="val 1446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7095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billing.py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709574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sqlite3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OrderIn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calc_invoice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第1回で分割した計算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&lt;=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(2026, 11, 30):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年末キャンペーン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0.95)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sqlite3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"C:/billing/prod.db"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"INSERT INTO invoices VALUES (?, ?)"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"https://mail.example.com/send"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"to"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"body"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"ご請求額 {total}円"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8293608" y="1828800"/>
            <a:ext cx="3328416" cy="3794760"/>
          </a:xfrm>
          <a:prstGeom prst="roundRect">
            <a:avLst>
              <a:gd name="adj" fmla="val 1648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67928" y="205740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一見、ふつう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567928" y="2560320"/>
            <a:ext cx="27797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入力は OrderIn。型がある（第2回）。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も Pyrefly も通る。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計算は分割済み（第1回）。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でも、この関数のテストを書こうとすると…？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まず、テストを書いてみます。</a:t>
            </a:r>
            <a:endParaRPr lang="en-US" sz="15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デモ：テストを書いてみる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依存症を診断する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ふつうに書くと、こうなります。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321808" cy="2194560"/>
          </a:xfrm>
          <a:prstGeom prst="roundRect">
            <a:avLst>
              <a:gd name="adj" fmla="val 25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test_invoice.py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49194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test_issue_invoice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OrderIn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model_validate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2850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6300216" y="1828800"/>
            <a:ext cx="5321808" cy="2194560"/>
          </a:xfrm>
          <a:prstGeom prst="roundRect">
            <a:avLst>
              <a:gd name="adj" fmla="val 25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1384" y="1938528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01384" y="2286000"/>
            <a:ext cx="49194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pytest -q      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自分の PC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passed in 0.31s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pytest -q      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CI・他の人の PC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sqlite3.OperationalError: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  unable to open database file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failed in 0.05s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9811512" y="42062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11512" y="42062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環境で結果が違う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800600"/>
            <a:ext cx="11055096" cy="1280160"/>
          </a:xfrm>
          <a:prstGeom prst="roundRect">
            <a:avLst>
              <a:gd name="adj" fmla="val 4286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4937760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 PC で通ったとき、本番 DB に請求書が1件増えて、本物のメールが1通飛んでいます。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5413248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 12月1日になると、2850 が 3000 に変わって、何も触っていないのに落ちます。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診断：引数は1つ、依存は世界中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依存症を診断する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赤い行が、関数の中で勝手に外の世界を掴んでいるところです。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766560" cy="2743200"/>
          </a:xfrm>
          <a:prstGeom prst="roundRect">
            <a:avLst>
              <a:gd name="adj" fmla="val 20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6364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billing.py（抜粋）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6364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OrderIn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calc_invoice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date.today() &lt;= date(2026, 11, 30):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0.95)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sqlite3.connect("C:/billing/prod.db")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requests.post("https://mail.example.com/send", ...)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7562088" y="1828800"/>
            <a:ext cx="4059936" cy="822960"/>
          </a:xfrm>
          <a:prstGeom prst="roundRect">
            <a:avLst>
              <a:gd name="adj" fmla="val 66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44968" y="203911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44968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19202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時計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2402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実行した日で結果が変わる。昨日のテストが今日落ちる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7562088" y="2770632"/>
            <a:ext cx="4059936" cy="822960"/>
          </a:xfrm>
          <a:prstGeom prst="roundRect">
            <a:avLst>
              <a:gd name="adj" fmla="val 66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44968" y="298094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44968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8620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1821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 DB がないと動かない。パスも C ドライブ決め打ち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7562088" y="3712464"/>
            <a:ext cx="4059936" cy="822960"/>
          </a:xfrm>
          <a:prstGeom prst="roundRect">
            <a:avLst>
              <a:gd name="adj" fmla="val 66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44968" y="3922776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44968" y="3922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8039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 API</a:t>
            </a:r>
            <a:endParaRPr lang="en-US" sz="154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12394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テストのたびに、本物のメールが飛ぶ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566928" y="4800600"/>
            <a:ext cx="11055096" cy="109728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41248" y="4937760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シグネチャは issue_invoice(order) だけ。何も要らないように見えます。</a:t>
            </a:r>
            <a:endParaRPr lang="en-US" sz="154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5349240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でも中では、時計・DB・メールサーバーを自分で取りに行っている。だから、呼ぶ側からは見えないし、差し替えもできません。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病名：依存しているのが悪いのではない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依存症を診断する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ここを取り違えると、治療の方向を間違えます。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321808" cy="2240280"/>
          </a:xfrm>
          <a:prstGeom prst="roundRect">
            <a:avLst>
              <a:gd name="adj" fmla="val 2449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41248" y="205740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悪くない ― 依存していること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651760"/>
            <a:ext cx="4773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請求書を送る関数が、メールサーバーに依存するのは当然です。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依存ゼロのプログラムは、何もできません。依存を減らすのが目的ではありません。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300216" y="1828800"/>
            <a:ext cx="5321808" cy="2240280"/>
          </a:xfrm>
          <a:prstGeom prst="roundRect">
            <a:avLst>
              <a:gd name="adj" fmla="val 244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74536" y="205740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悪い ― 隠れていて、差し替えられないこと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574536" y="2651760"/>
            <a:ext cx="4773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関数の中で勝手に掴んでいるので、テスト用・別環境用に取り替えられない。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その結果「〇〇がないと動かせない」「環境で動きが違う」が起きる。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566928" y="43434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E6F4E7"/>
          </a:solidFill>
          <a:ln w="12700">
            <a:solidFill>
              <a:srgbClr val="E6F4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343400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治療のゴール：依存を、見える場所に出して、取り替えられるようにする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外から渡す ― DI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必要なものは、自分で取りに行かない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ってなに？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外から渡す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Dependency Injection、日本語で「依存性の注入」。名前は大げさですが、やることは「引数で渡す」だけです。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321808" cy="2651760"/>
          </a:xfrm>
          <a:prstGeom prst="roundRect">
            <a:avLst>
              <a:gd name="adj" fmla="val 2069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41248" y="210312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今：料理人が、自分で畑を耕してから料理する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34640"/>
            <a:ext cx="4773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試食会のたびに、畑が要る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畑の土が変わると、味が変わる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料理の腕だけを評価できない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6300216" y="1874520"/>
            <a:ext cx="5321808" cy="2651760"/>
          </a:xfrm>
          <a:prstGeom prst="roundRect">
            <a:avLst>
              <a:gd name="adj" fmla="val 2069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74536" y="210312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DI：料理人は、食材を渡してもらって料理する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574536" y="2834640"/>
            <a:ext cx="4773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試食会では、練習用の食材でいい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本番では、本物の食材を渡す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料理の腕（＝業務ロジック）だけを確かめられる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84632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料理人＝業務ロジック、食材＝DB・メール・時計。料理人は、食材がどこから来たかを知らなくていい。</a:t>
            </a:r>
            <a:endParaRPr lang="en-US" sz="15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1：隠れた依存を、引数に出す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外から渡す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時計は date という「値」で、DB とメールは「部品」で受け取ります。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949440" cy="3749040"/>
          </a:xfrm>
          <a:prstGeom prst="roundRect">
            <a:avLst>
              <a:gd name="adj" fmla="val 1463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6547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billing.py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65471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OrderIn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today: date,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invoices: InvoiceRepository,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mailer: Mailer,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calc_invoice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CAMPAIGN_END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0.95)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"ご請求額 {total}円"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7744968" y="1828800"/>
            <a:ext cx="3877056" cy="3749040"/>
          </a:xfrm>
          <a:prstGeom prst="roundRect">
            <a:avLst>
              <a:gd name="adj" fmla="val 146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19288" y="2057400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変わったこと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019288" y="2560320"/>
            <a:ext cx="33284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シグネチャを見れば、何に依存しているか全部わかる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sqlite3 も requests も import していない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残ったのは「キャンペーンを当てて、保存して、送る」という業務の流れだけ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中身の計算は1文字も変えていません。変わったのは、依存の持ち方だけです。</a:t>
            </a:r>
            <a:endParaRPr lang="en-US" sz="15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2：形だけを Protocol で決める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外から渡す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第2回の型が、ここで効いてきます。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760720" cy="2514600"/>
          </a:xfrm>
          <a:prstGeom prst="roundRect">
            <a:avLst>
              <a:gd name="adj" fmla="val 2182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ports.py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53583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typing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InvoiceRepository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...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...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10528" y="1828800"/>
            <a:ext cx="5111496" cy="2514600"/>
          </a:xfrm>
          <a:prstGeom prst="roundRect">
            <a:avLst>
              <a:gd name="adj" fmla="val 2182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11696" y="193852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形を間違えた偽物を渡すと（PowerShell）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11696" y="2286000"/>
            <a:ext cx="4709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FakeMailer.send から body を書き忘れた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pyrefly check test_invoice.py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Argument `FakeMailer` is not assignable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parameter `mailer` with type `Mailer`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function `issue_invoice`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INFO 1 error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566928" y="4572000"/>
            <a:ext cx="11055096" cy="1143000"/>
          </a:xfrm>
          <a:prstGeom prst="roundRect">
            <a:avLst>
              <a:gd name="adj" fmla="val 4800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4709160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Protocol は「この形のメソッドを持っていれば、何でも OK」という約束です。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5138928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継承は要りません。形が合っていれば Pyrefly が通し、合っていなければ実行前に止めます。</a:t>
            </a:r>
            <a:endParaRPr lang="en-US" sz="13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3：テストでは、偽物を渡す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外から渡す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mock.patch は使っていません。普通のクラスを作って、引数で渡しているだけです。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7086600" cy="4023360"/>
          </a:xfrm>
          <a:prstGeom prst="roundRect">
            <a:avLst>
              <a:gd name="adj" fmla="val 1364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6684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test_invoice.py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668426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FakeInvoices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 = []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[]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test_campaign_discount_is_applied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FakeInvoices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issue_invoice(ORDER, date(2026, 11, 30), invoices, mailer)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2850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[(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"A-1042"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2850)]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"taro@example.com"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82128" y="1828800"/>
            <a:ext cx="3739896" cy="1143000"/>
          </a:xfrm>
          <a:prstGeom prst="roundRect">
            <a:avLst>
              <a:gd name="adj" fmla="val 48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83296" y="193852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83296" y="22860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pytest -q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passed in 0.01s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7882128" y="3154680"/>
            <a:ext cx="3739896" cy="804672"/>
          </a:xfrm>
          <a:prstGeom prst="roundRect">
            <a:avLst>
              <a:gd name="adj" fmla="val 6818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110728" y="32461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3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 不要</a:t>
            </a:r>
            <a:endParaRPr lang="en-US" sz="1430" dirty="0"/>
          </a:p>
        </p:txBody>
      </p:sp>
      <p:sp>
        <p:nvSpPr>
          <p:cNvPr id="15" name="Text 13"/>
          <p:cNvSpPr txBox="1"/>
          <p:nvPr/>
        </p:nvSpPr>
        <p:spPr>
          <a:xfrm>
            <a:off x="8110728" y="35753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 DB も SQLite のファイルも要らない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7882128" y="4069080"/>
            <a:ext cx="3739896" cy="804672"/>
          </a:xfrm>
          <a:prstGeom prst="roundRect">
            <a:avLst>
              <a:gd name="adj" fmla="val 6818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110728" y="41605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3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メールが飛ばない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8110728" y="44897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送った宛先は、リストに記録されるだけ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7882128" y="4983480"/>
            <a:ext cx="3739896" cy="804672"/>
          </a:xfrm>
          <a:prstGeom prst="roundRect">
            <a:avLst>
              <a:gd name="adj" fmla="val 6818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110728" y="5074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3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日付を固定</a:t>
            </a:r>
            <a:endParaRPr lang="en-US" sz="1430" dirty="0"/>
          </a:p>
        </p:txBody>
      </p:sp>
      <p:sp>
        <p:nvSpPr>
          <p:cNvPr id="21" name="Text 19"/>
          <p:cNvSpPr txBox="1"/>
          <p:nvPr/>
        </p:nvSpPr>
        <p:spPr>
          <a:xfrm>
            <a:off x="8110728" y="54041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いつ実行しても、誰が実行しても同じ結果</a:t>
            </a:r>
            <a:endParaRPr lang="en-US" sz="116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94360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3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「保存したか」「送ったか」も、偽物に記録を残させれば assert で確かめられます。</a:t>
            </a:r>
            <a:endParaRPr lang="en-US" sz="14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境界値も、日付で書けるようになった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外から渡す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第1回の「境界値だけは自分で足す」が、日付でもできます。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7086600" cy="2468880"/>
          </a:xfrm>
          <a:prstGeom prst="roundRect">
            <a:avLst>
              <a:gd name="adj" fmla="val 2222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6684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test_invoice.py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66842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parametrize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"today"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"expected"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(2026, 11, 30), 2850),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境界: 最終日は割引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(2026, 12, 1),  3000),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翌日は定価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test_campaign_boundary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FakeInvoices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==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82128" y="1828800"/>
            <a:ext cx="3739896" cy="2468880"/>
          </a:xfrm>
          <a:prstGeom prst="roundRect">
            <a:avLst>
              <a:gd name="adj" fmla="val 2222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83296" y="193852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83296" y="2286000"/>
            <a:ext cx="3337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pytest -q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        [100%]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passed in 0.01s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9811512" y="438912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E6F4E7"/>
          </a:solidFill>
          <a:ln w="12700">
            <a:solidFill>
              <a:srgbClr val="E6F4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11512" y="438912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PASS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37760"/>
            <a:ext cx="11055096" cy="1234440"/>
          </a:xfrm>
          <a:prstGeom prst="roundRect">
            <a:avLst>
              <a:gd name="adj" fmla="val 4444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5047488"/>
            <a:ext cx="10506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date.today() を中で呼んでいた頃は、11月30日と12月1日に、それぞれ手で実行するしかありませんでした。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5733288"/>
            <a:ext cx="1050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ゴールデンマスターも、日付を固定して記録できるようになります（第1回の宿題を回収）。</a:t>
            </a:r>
            <a:endParaRPr lang="en-US" sz="13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4：組み立ては、一番外側だけ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外から渡す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Protocol の形に合わせた本物の部品を作り、入口で組み立てます。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7406640" cy="3840480"/>
          </a:xfrm>
          <a:prstGeom prst="roundRect">
            <a:avLst>
              <a:gd name="adj" fmla="val 1429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7004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infra.py / main.py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70043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SqliteInvoiceRepository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InvoiceRepository の本物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db_path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_db_path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db_path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sqlite3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_db_path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"INSERT INTO invoices VALUES (?, ?)"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 ― 具体的な部品を知っているのは、ここだけ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invoices = SqliteInvoiceRepository(Path("C:/billing/prod.db"))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mailer = HttpMailer("https://mail.example.com/send")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load_order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02168" y="1828800"/>
            <a:ext cx="3419856" cy="3840480"/>
          </a:xfrm>
          <a:prstGeom prst="roundRect">
            <a:avLst>
              <a:gd name="adj" fmla="val 1604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76488" y="20574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組み立てる場所は1か所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476488" y="2560320"/>
            <a:ext cx="28712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sqlite3 や requests を知っているのは、本物の部品と main だけ。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業務ロジックは、どちらが来たかを知りません。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ただし、赤い2行 ― パスと URL がまだ直書きです。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残った直書きを片付けるのが、次の章です。</a:t>
            </a:r>
            <a:endParaRPr lang="en-US" sz="15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治療前と、治療後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外から渡す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コードの量はほとんど変わっていません。変わったのは、依存の持ち方だけです。</a:t>
            </a:r>
            <a:endParaRPr lang="en-US" sz="154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5096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77640"/>
                <a:gridCol w="396849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治療前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治療後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何に依存しているか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中を読まないと分からない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シグネチャを見れば分かる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テストに必要なもの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 DB・ネットワーク・今日の日付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偽物の部品だけ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テストを走らせると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 DB に書き込み、メールが飛ぶ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何も外に出ていかない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日付の境界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その日に手で実行するしかない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parametrize に1行足すだけ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DB やメールの方式を変える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業務ロジックを書き換える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部品を差し替えるだけ</a:t>
                      </a:r>
                      <a:endParaRPr lang="en-US" sz="14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既存コードへの入れ方 ― 4段階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外から渡す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いきなり全部を Protocol にしない。前回までと同じ作法です。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02082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578608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ゴールデンマスターで守る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24612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第1回の手法。今の動きを記録してから触る</a:t>
            </a:r>
            <a:endParaRPr lang="en-US" sz="1210" dirty="0"/>
          </a:p>
        </p:txBody>
      </p:sp>
      <p:sp>
        <p:nvSpPr>
          <p:cNvPr id="12" name="Shape 10"/>
          <p:cNvSpPr/>
          <p:nvPr/>
        </p:nvSpPr>
        <p:spPr>
          <a:xfrm>
            <a:off x="3383280" y="178308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21024" y="202082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21024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2578608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隠れた依存を探す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3621024" y="324612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date.today / datetime.now / connect / requests / os.environ / random を grep</a:t>
            </a:r>
            <a:endParaRPr lang="en-US" sz="121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7376" y="202082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37376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2578608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デフォルト引数で外に出す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324612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呼び出し元は1行も変えない（下のコード）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9015984" y="178308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53728" y="202082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53728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40" dirty="0"/>
          </a:p>
        </p:txBody>
      </p:sp>
      <p:sp>
        <p:nvSpPr>
          <p:cNvPr id="25" name="Text 23"/>
          <p:cNvSpPr txBox="1"/>
          <p:nvPr/>
        </p:nvSpPr>
        <p:spPr>
          <a:xfrm>
            <a:off x="9253728" y="2578608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部品だけ Protocol に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324612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DB・外部 API だけ。時計は date の値で十分</a:t>
            </a:r>
            <a:endParaRPr lang="en-US" sz="1210" dirty="0"/>
          </a:p>
        </p:txBody>
      </p:sp>
      <p:sp>
        <p:nvSpPr>
          <p:cNvPr id="27" name="Shape 25"/>
          <p:cNvSpPr/>
          <p:nvPr/>
        </p:nvSpPr>
        <p:spPr>
          <a:xfrm>
            <a:off x="566928" y="4526280"/>
            <a:ext cx="11055096" cy="1143000"/>
          </a:xfrm>
          <a:prstGeom prst="roundRect">
            <a:avLst>
              <a:gd name="adj" fmla="val 48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4636008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billing.py ― 3段目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" y="498348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OrderIn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既存の呼び出しは、今まで通り動く</a:t>
            </a:r>
            <a:endParaRPr lang="en-US" sz="121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全部を一度に直さない。今触る関数から、1つずつ。</a:t>
            </a:r>
            <a:endParaRPr lang="en-US" sz="15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設定も外の世界 ― pydantic-settings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環境で変わる値に、門を立てる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環境変数も「外から来るデータ」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設定も外の世界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第2回の地図で、設定ファイルは「外の世界」の側に描いてありました。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760720" cy="2377440"/>
          </a:xfrm>
          <a:prstGeom prst="roundRect">
            <a:avLst>
              <a:gd name="adj" fmla="val 2308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billing.py（よくある書き方）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53583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db_path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"DB_PATH"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無ければ KeyError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mail_url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"MAIL_API_URL"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"RETRY"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int() で囲む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is_debug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"DEBUG"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"true" だったら？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6556248" y="1828800"/>
            <a:ext cx="5065776" cy="2377440"/>
          </a:xfrm>
          <a:prstGeom prst="roundRect">
            <a:avLst>
              <a:gd name="adj" fmla="val 2308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57416" y="19385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57416" y="22860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python main.py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請求額を計算しました: 2850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に保存しました: A-1042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Traceback (most recent call last):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KeyError: 'MAIL_API_URL'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9811512" y="434340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11512" y="434340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途中で落ちる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846320"/>
            <a:ext cx="11055096" cy="118872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4983480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計算も保存も終わった後、メール送信の直前で落ちます。DB には請求書があるのに、メールは届いていない。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5486400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どれも str か None。その場その場で int() で囲み、確かめている ― 第2回の「心当たり」と同じ形です。</a:t>
            </a:r>
            <a:endParaRPr lang="en-US" sz="13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pydantic-settings で、入口に門を立てる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設定も外の世界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書き方は第2回の BaseModel と同じ。継承元が BaseSettings に変わるだけです。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7406640" cy="3886200"/>
          </a:xfrm>
          <a:prstGeom prst="roundRect">
            <a:avLst>
              <a:gd name="adj" fmla="val 1412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7004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settings.py / main.py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700430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HttpUrl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pydantic_settings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SettingsConfigDict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model_config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SettingsConfigDict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env_file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".env"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db_path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mail_api_url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HttpUrl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settings = Settings()                      # ← ここが門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SqliteInvoiceRepository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db_path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mail_api_url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load_order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02168" y="1828800"/>
            <a:ext cx="3419856" cy="3886200"/>
          </a:xfrm>
          <a:prstGeom prst="roundRect">
            <a:avLst>
              <a:gd name="adj" fmla="val 1604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76488" y="20574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pydantic-settings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476488" y="2560320"/>
            <a:ext cx="287121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pydantic の公式の仲間。pip install pydantic-settings で入ります。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環境変数と .env を自動で読み、型に変換して検査する。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フィールド名がそのまま環境変数名になる（大文字小文字は区別しない）。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Settings() の1行が門。足りない設定、形の違う設定は、ここで止まります。</a:t>
            </a:r>
            <a:endParaRPr lang="en-US" sz="15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デモ：壊れた設定は、起動時に止まる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設定も外の世界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DB_PATH を書き忘れ、URL を相対で書き、RETRY を漢字で書いた .env を渡します。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3840480" cy="2697480"/>
          </a:xfrm>
          <a:prstGeom prst="roundRect">
            <a:avLst>
              <a:gd name="adj" fmla="val 2034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.env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34381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DB_PATH を書き忘れた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MAIL_API_URL=mail.example.com/send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RETRY=三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4636008" y="1828800"/>
            <a:ext cx="6986016" cy="2697480"/>
          </a:xfrm>
          <a:prstGeom prst="roundRect">
            <a:avLst>
              <a:gd name="adj" fmla="val 2034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37176" y="193852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ValidationError（PowerShell）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37176" y="2286000"/>
            <a:ext cx="6583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python main.py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validation errors for Settings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db_path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Field required [type=missing, ...]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mail_api_url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should be a valid URL, relative URL without a base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should be a valid integer, unable to parse string as an integer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811512" y="46634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E6F4E7"/>
          </a:solidFill>
          <a:ln w="12700">
            <a:solidFill>
              <a:srgbClr val="E6F4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11512" y="46634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起動時に止まる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521208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5212080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請求額の計算も、DB への保存も始まる前に止まります。3か所まとめて報告するのは、第2回の ValidationError と同じです。</a:t>
            </a:r>
            <a:endParaRPr lang="en-US" sz="15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 も「注入」する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設定も外の世界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作ると使うを分ける。第2回の「門は1枚。入口をあちこちに作らない」と同じ話です。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321808" cy="1737360"/>
          </a:xfrm>
          <a:prstGeom prst="roundRect">
            <a:avLst>
              <a:gd name="adj" fmla="val 3158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02082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57860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作る：Settings()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環境変数と .env を読む＝外の世界に触る。入口（main）で1回だけ。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300216" y="1783080"/>
            <a:ext cx="5321808" cy="1737360"/>
          </a:xfrm>
          <a:prstGeom prst="roundRect">
            <a:avLst>
              <a:gd name="adj" fmla="val 3158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202082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57860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使う：settings.db_path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検証済みの、ただの値。引数で渡せば、どこで使ってもいい。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66928" y="3703320"/>
            <a:ext cx="5321808" cy="1783080"/>
          </a:xfrm>
          <a:prstGeom prst="roundRect">
            <a:avLst>
              <a:gd name="adj" fmla="val 3077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3813048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再発する書き方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1605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config.py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= Settings()     # import した瞬間に読む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billing.py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config import settings   # どこからでも取り出せる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300216" y="3703320"/>
            <a:ext cx="5321808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74536" y="393192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これをやると、依存症が再発する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6574536" y="4325112"/>
            <a:ext cx="47731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 しただけで環境変数が要り、テストの収集で落ちる</a:t>
            </a:r>
            <a:endParaRPr lang="en-US" sz="121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テストで設定を変えるのに monkeypatch が要る</a:t>
            </a:r>
            <a:endParaRPr lang="en-US" sz="121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何の設定に依存しているか、シグネチャから見えない</a:t>
            </a:r>
            <a:endParaRPr lang="en-US" sz="121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76072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Settings() を作るのは入口だけ。できたものは、引数で渡して使う。</a:t>
            </a:r>
            <a:endParaRPr lang="en-US" sz="15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 ―「Settings 引き回しの刑」に注意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設定も外の世界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設定は、使う人に、作る時に渡す。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321808" cy="2514600"/>
          </a:xfrm>
          <a:prstGeom prst="roundRect">
            <a:avLst>
              <a:gd name="adj" fmla="val 2182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引き回している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49194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handle(order, settings: Settings):   # 使わない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issue(order, settings: Settings):    # 使わない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SqliteInvoiceRepository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db_path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    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↑ 中で作るから要る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0216" y="1828800"/>
            <a:ext cx="5321808" cy="2514600"/>
          </a:xfrm>
          <a:prstGeom prst="roundRect">
            <a:avLst>
              <a:gd name="adj" fmla="val 2182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1384" y="1938528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組み立てを main に寄せる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01384" y="2286000"/>
            <a:ext cx="49194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SqliteInvoiceRepository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db_path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InvoiceService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settings.campaign_end)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InvoiceHandler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途中の層は Settings を知らない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4572000"/>
            <a:ext cx="11055096" cy="1417320"/>
          </a:xfrm>
          <a:prstGeom prst="roundRect">
            <a:avLst>
              <a:gd name="adj" fmla="val 3871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4681728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引き回しは、途中の層が部品を自分で作っているサインです。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5093208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組み立てを main に寄せれば、途中の層は Settings を知らずに済みます。キャンペーン期限のような業務のパラメータも「作る時に」渡す。増えてきたら、業務側で小さな dataclass に束ねます（第2回 28ページと同じ考え方）。</a:t>
            </a:r>
            <a:endParaRPr lang="en-US" sz="121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限界と注意点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万能ではないので、先に自分から言っておきます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の限界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限界と注意点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偽物が通っても、本物が正しいとは限らない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145536"/>
            <a:ext cx="3026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FakeInvoices は SQL を書きません。本物の SQL の間違いは、DI のテストでは見つかりません。本物の部品は、本物の DB で別に確かめます。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343400" y="1664208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1144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1144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4581144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引数が増える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3145536"/>
            <a:ext cx="3026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依存を出すと、シグネチャが長くなります。5つを超えたら、その関数の責務が多すぎる合図（第1回の PLR0913）。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119872" y="1664208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5761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外の世界そのものは治らない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3145536"/>
            <a:ext cx="3026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 DB が落ちれば落ちる。メールサーバーが遅ければ遅い。DI が治すのは「テストできない」「環境で違う」だけです。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495544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が保証するのは「業務ロジックが正しいこと」。「本物の部品が正しく繋がること」は、別に確かめます。</a:t>
            </a:r>
            <a:endParaRPr lang="en-US" sz="15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用法・用量を守ってください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限界と注意点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を覚えたてだと、全部を注入したくなります。それはそれで、別の依存症です。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11055096" cy="868680"/>
          </a:xfrm>
          <a:prstGeom prst="roundRect">
            <a:avLst>
              <a:gd name="adj" fmla="val 6316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011680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8745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何でも注入しない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240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純粋な計算、math や文字列処理、同じモジュールの小さな関数は、そのまま使う。注入するのは「外の世界」に触るものだけ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566928" y="2770632"/>
            <a:ext cx="11055096" cy="868680"/>
          </a:xfrm>
          <a:prstGeom prst="roundRect">
            <a:avLst>
              <a:gd name="adj" fmla="val 6316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299923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8620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コンテナは要らない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2278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なら、引数で渡すだけで十分。フレームワークを入れる前に、まず手で渡してみる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566928" y="3758184"/>
            <a:ext cx="11055096" cy="868680"/>
          </a:xfrm>
          <a:prstGeom prst="roundRect">
            <a:avLst>
              <a:gd name="adj" fmla="val 6316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98678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8496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Protocol を作りすぎない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21538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時計は date を値で渡せば足りる。部品が1種類で、テストでも困らないなら、抽象化は後回し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566928" y="4745736"/>
            <a:ext cx="11055096" cy="868680"/>
          </a:xfrm>
          <a:prstGeom prst="roundRect">
            <a:avLst>
              <a:gd name="adj" fmla="val 6316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974336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4974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4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8371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mock.patch で治さない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2029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症状を抑えるだけで、依存は隠れたまま。差し替えたくなったら、まず引数に出せないかを考える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85216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一番多い失敗は1番です。迷ったら、次の章の基準で決めてください。</a:t>
            </a:r>
            <a:endParaRPr lang="en-US" sz="15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何を注入して、誰のために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全部に使わなくていい。使うのは、外に繋がるところだけ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何を注入して、何をしないか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何を注入して、誰のために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全部やろうとすると挫折します。最初は割り切って構いません。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5321808" cy="3291840"/>
          </a:xfrm>
          <a:prstGeom prst="roundRect">
            <a:avLst>
              <a:gd name="adj" fmla="val 16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41248" y="219456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まず注入する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743200"/>
            <a:ext cx="4773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今日の日付・現在時刻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DB・ファイルの読み書き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 API・メール送信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環境変数・設定（Settings）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乱数・UUID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6300216" y="1965960"/>
            <a:ext cx="5321808" cy="3291840"/>
          </a:xfrm>
          <a:prstGeom prst="roundRect">
            <a:avLst>
              <a:gd name="adj" fmla="val 16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74536" y="219456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今は注入しなくていい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574536" y="2743200"/>
            <a:ext cx="4773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金額計算のような純粋な関数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標準ライブラリの math・文字列処理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同じモジュールの小さな関数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使い捨てのスクリプト、調査用のコード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の中の組み立てそのもの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53212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迷ったら「実行するたびに結果が変わるか」「何かが外に出ていくか」で決める。どちらでもなければ、今はいりません。</a:t>
            </a:r>
            <a:endParaRPr lang="en-US" sz="15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は、結局だれのために入れるのか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何を注入して、誰のために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5321808" cy="3611880"/>
          </a:xfrm>
          <a:prstGeom prst="roundRect">
            <a:avLst>
              <a:gd name="adj" fmla="val 1519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1892808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AI エージェントのため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31720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本番がなくても、自走できる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80360"/>
            <a:ext cx="47731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 も本番 API もない環境で、エージェントが pytest を回して、赤なら直してもう一度。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第1回の ruff と pytest、第2回の型に DI が加わると、自走できる範囲が広がります。AI がテストのたびに本物のメールを送ることも、なくなります。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300216" y="1664208"/>
            <a:ext cx="5321808" cy="3611880"/>
          </a:xfrm>
          <a:prstGeom prst="roundRect">
            <a:avLst>
              <a:gd name="adj" fmla="val 1519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74536" y="1892808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チームと、別の環境のため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574536" y="2331720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誰の PC でも、同じ結果になる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6574536" y="2880360"/>
            <a:ext cx="47731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 PC で通ったテストが、CI でも同僚の PC でも通る。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環境で変わるものは Settings の1か所にしかない。「私の環境では動くんですけど」が減ります。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57784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は、コードを速くしません。コードを「どこでも確かめられる」ものにします。</a:t>
            </a:r>
            <a:endParaRPr lang="en-US" sz="154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おまけ：DIP ― 矢印がひっくり返る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何を注入して、誰のために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時間があれば。今日の Step 2 で、実はもう実践しています。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治療前</a:t>
            </a:r>
            <a:endParaRPr lang="en-US" sz="154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4480560" cy="685800"/>
          </a:xfrm>
          <a:prstGeom prst="roundRect">
            <a:avLst>
              <a:gd name="adj" fmla="val 80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331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issue_invoice（業務ルール）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3063240" y="3017520"/>
            <a:ext cx="0" cy="1051560"/>
          </a:xfrm>
          <a:prstGeom prst="line">
            <a:avLst/>
          </a:prstGeom>
          <a:noFill/>
          <a:ln w="28575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4069080"/>
            <a:ext cx="4480560" cy="685800"/>
          </a:xfrm>
          <a:prstGeom prst="roundRect">
            <a:avLst>
              <a:gd name="adj" fmla="val 8000"/>
            </a:avLst>
          </a:prstGeom>
          <a:solidFill>
            <a:srgbClr val="8C9BA8"/>
          </a:solidFill>
          <a:ln w="12700">
            <a:solidFill>
              <a:srgbClr val="8C9B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0690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sqlite3 ／ requests（詳細）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892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業務ルールが、詳細の都合に引きずられる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6300216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治療後</a:t>
            </a:r>
            <a:endParaRPr lang="en-US" sz="1540" dirty="0"/>
          </a:p>
        </p:txBody>
      </p:sp>
      <p:sp>
        <p:nvSpPr>
          <p:cNvPr id="15" name="Shape 13"/>
          <p:cNvSpPr/>
          <p:nvPr/>
        </p:nvSpPr>
        <p:spPr>
          <a:xfrm>
            <a:off x="6492240" y="2331720"/>
            <a:ext cx="4937760" cy="685800"/>
          </a:xfrm>
          <a:prstGeom prst="roundRect">
            <a:avLst>
              <a:gd name="adj" fmla="val 80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3317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issue_invoice（業務ルール）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961120" y="3017520"/>
            <a:ext cx="0" cy="292608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92240" y="3310128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7F9FA"/>
          </a:solidFill>
          <a:ln w="25400">
            <a:solidFill>
              <a:srgbClr val="2E7D32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492240" y="33101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InvoiceRepository / Mailer（Protocol）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 flipV="1">
            <a:off x="8961120" y="3813048"/>
            <a:ext cx="0" cy="256032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92240" y="4069080"/>
            <a:ext cx="4937760" cy="685800"/>
          </a:xfrm>
          <a:prstGeom prst="roundRect">
            <a:avLst>
              <a:gd name="adj" fmla="val 8000"/>
            </a:avLst>
          </a:prstGeom>
          <a:solidFill>
            <a:srgbClr val="8C9BA8"/>
          </a:solidFill>
          <a:ln w="12700">
            <a:solidFill>
              <a:srgbClr val="8C9B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40690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SqliteInvoiceRepository ／ HttpMailer（詳細）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6300216" y="4892040"/>
            <a:ext cx="5321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Protocol は業務ルールの側が決める。詳細が、その形に合わせに来る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566928" y="5394960"/>
            <a:ext cx="11055096" cy="777240"/>
          </a:xfrm>
          <a:prstGeom prst="roundRect">
            <a:avLst>
              <a:gd name="adj" fmla="val 7059"/>
            </a:avLst>
          </a:prstGeom>
          <a:solidFill>
            <a:srgbClr val="E6F4E7"/>
          </a:solidFill>
          <a:ln w="12700">
            <a:solidFill>
              <a:srgbClr val="E6F4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5394960"/>
            <a:ext cx="10506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DIP（依存性逆転の原則）：業務ルールは詳細に依存しない。どちらも抽象に依存する。DI は手段、DIP は設計の考え方。</a:t>
            </a:r>
            <a:endParaRPr lang="en-US" sz="14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明日からの一歩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明日からの一歩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5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6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次に関数を触るとき、</a:t>
            </a:r>
            <a:endParaRPr lang="en-US" sz="1760" dirty="0"/>
          </a:p>
        </p:txBody>
      </p:sp>
      <p:sp>
        <p:nvSpPr>
          <p:cNvPr id="7" name="Shape 5"/>
          <p:cNvSpPr/>
          <p:nvPr/>
        </p:nvSpPr>
        <p:spPr>
          <a:xfrm>
            <a:off x="566928" y="2029968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24128" y="2029968"/>
            <a:ext cx="10140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6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中の date.today() を1つ、引数に出す</a:t>
            </a:r>
            <a:endParaRPr lang="en-US" sz="2860" dirty="0"/>
          </a:p>
        </p:txBody>
      </p:sp>
      <p:sp>
        <p:nvSpPr>
          <p:cNvPr id="9" name="Shape 7"/>
          <p:cNvSpPr/>
          <p:nvPr/>
        </p:nvSpPr>
        <p:spPr>
          <a:xfrm>
            <a:off x="566928" y="3310128"/>
            <a:ext cx="5321808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" y="3538728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これだけで十分な理由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041648"/>
            <a:ext cx="4773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デフォルト引数を使えば、呼び出し元は1行も変わらない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その日のうちに、日付を固定したテストが書ける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境界の日付（最終日・翌日）も1行で足せる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1つできれば、DB も外部 API も同じ形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300216" y="3310128"/>
            <a:ext cx="5321808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74536" y="3538728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574536" y="4041648"/>
            <a:ext cx="4773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引数が増えすぎる＝その関数の責務が多い合図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 や外部 API の切り出しは、一緒に見ます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設定の置き場所に迷ったら、相談してください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一人で全部やろうとしないでください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持ち帰るのは1つだけで構いません。</a:t>
            </a:r>
            <a:endParaRPr lang="en-US" sz="13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依存は、悪ではありません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22402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6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何かに書き込む。何かを使う。それは全て依存です。</a:t>
            </a:r>
            <a:endParaRPr lang="en-US" sz="176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6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極端な話、私たちはモニターに依存していて、この依存は解消できません。</a:t>
            </a:r>
            <a:endParaRPr lang="en-US" sz="1760" dirty="0"/>
          </a:p>
        </p:txBody>
      </p:sp>
      <p:sp>
        <p:nvSpPr>
          <p:cNvPr id="4" name="Shape 2"/>
          <p:cNvSpPr/>
          <p:nvPr/>
        </p:nvSpPr>
        <p:spPr>
          <a:xfrm>
            <a:off x="841248" y="3611880"/>
            <a:ext cx="10515600" cy="2103120"/>
          </a:xfrm>
          <a:prstGeom prst="roundRect">
            <a:avLst>
              <a:gd name="adj" fmla="val 2609"/>
            </a:avLst>
          </a:prstGeom>
          <a:solidFill>
            <a:srgbClr val="2A3946"/>
          </a:solidFill>
          <a:ln w="12700">
            <a:solidFill>
              <a:srgbClr val="2A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07008" y="3840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悪なのは、依存が隠れていて、差し替えられないこと。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8FD69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依存が「依存以上の影響」を持つことです。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49834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請求書を送るために、メールサーバーに依存する。それは正しい依存。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でも、そのせいで「テストできない」「環境で動きが変わる」なら、それは依存症です。</a:t>
            </a:r>
            <a:endParaRPr lang="en-US" sz="13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566928" y="147218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472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417320"/>
            <a:ext cx="10506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依存は悪ではない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56232"/>
            <a:ext cx="1050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悪いのは、隠れていて差し替えられない依存。それが「〇〇がないと動かせない」を生む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66928" y="2377440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322576"/>
            <a:ext cx="10506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必要なものは、自分で取りに行かない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761488"/>
            <a:ext cx="1050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時計・DB・外部 API は、引数で外から渡す ― DI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566928" y="3282696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227832"/>
            <a:ext cx="10506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形は Protocol、組み立ては main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666744"/>
            <a:ext cx="1050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テストでは偽物を、本番では本物を渡す。境界の日付もテストできる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66928" y="4187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4133088"/>
            <a:ext cx="10506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設定も外の世界 ― pydantic-settings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572000"/>
            <a:ext cx="1050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入口に門を1枚。Settings() を作るのは main だけ、使う人には作る時に渡す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566928" y="5093208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5093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5038344"/>
            <a:ext cx="10506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偽物で確かめられるのは、業務ロジックまで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5477256"/>
            <a:ext cx="1050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本物の部品が正しく繋がるかは、別に確かめる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03504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ご清聴ありがとうございました　― 質問をどうぞ</a:t>
            </a:r>
            <a:endParaRPr lang="en-US" sz="1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第3回 外に繋がるコードの依存症の治し方</dc:title>
  <dc:subject>PptxGenJS Presentation</dc:subject>
  <dc:creator>PptxGenJS</dc:creator>
  <cp:lastModifiedBy>PptxGenJS</cp:lastModifiedBy>
  <cp:revision>1</cp:revision>
  <dcterms:created xsi:type="dcterms:W3CDTF">2026-10-21T15:47:54Z</dcterms:created>
  <dcterms:modified xsi:type="dcterms:W3CDTF">2026-10-21T15:47:54Z</dcterms:modified>
</cp:coreProperties>
</file>